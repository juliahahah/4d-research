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原圖：MoCA_x1.png。MoCA (arXiv 2605.14054)。講解時對著圖說明，再點出對應我們方法的哪一步。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原圖：MoCA_x2.png。MoCA (arXiv 2605.14054)。講解時對著圖說明，再點出對應我們方法的哪一步。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原圖：Flow4Agent_x2.png。Flow4Agent (arXiv 2510.05836, ICCV 2025)。講解時對著圖說明，再點出對應我們方法的哪一步。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原圖：SmoothOp_overview.png。Smooth Operator (arXiv 2601.07695)。講解時對著圖說明，再點出對應我們方法的哪一步。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原圖：VLM4D_x1.png。VLM4D (arXiv 2508.02095, ICCV 2025)。講解時對著圖說明，再點出對應我們方法的哪一步。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原圖：VLM4D_radar.png。VLM4D (arXiv 2508.02095, ICCV 2025)。講解時對著圖說明，再點出對應我們方法的哪一步。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38912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架構 ① · 方法骨架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A1A2E"/>
                </a:solidFill>
                <a:latin typeface="Microsoft JhengHei"/>
              </a:rPr>
              <a:t>MoCA / VL-Scaler：蒙眼推理器 + 感知/結果雙驗證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578" y="1737360"/>
            <a:ext cx="4298364" cy="3474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A_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298" y="1783080"/>
            <a:ext cx="4206924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349240"/>
            <a:ext cx="10881360" cy="868680"/>
          </a:xfrm>
          <a:prstGeom prst="roundRect">
            <a:avLst/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46304" cy="86868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58968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對應我們：</a:t>
            </a:r>
            <a:r>
              <a:rPr sz="1400" b="0" i="0">
                <a:solidFill>
                  <a:srgbClr val="1A1A2E"/>
                </a:solidFill>
                <a:latin typeface="Microsoft JhengHei"/>
              </a:rPr>
              <a:t>我們沿用此歸因骨架，把「感知驗證」的判準從『文字充分性』換成『4D 證據一致性』。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原圖出處：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MoCA (arXiv 2605.14054)　（僅供研究討論，正式引用請標註原文）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7395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Paper Figures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38912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架構 ①附 · 交錯感知/推理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A1A2E"/>
                </a:solidFill>
                <a:latin typeface="Microsoft JhengHei"/>
              </a:rPr>
              <a:t>模型交錯輸出 ⟨think⟩ 推理塊與 ⟨recognition⟩ 感知塊</a:t>
            </a:r>
          </a:p>
        </p:txBody>
      </p:sp>
      <p:sp>
        <p:nvSpPr>
          <p:cNvPr id="6" name="Rectangle 5"/>
          <p:cNvSpPr/>
          <p:nvPr/>
        </p:nvSpPr>
        <p:spPr>
          <a:xfrm>
            <a:off x="4942385" y="1737360"/>
            <a:ext cx="2276749" cy="3474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A_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105" y="1783080"/>
            <a:ext cx="2185309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349240"/>
            <a:ext cx="10881360" cy="868680"/>
          </a:xfrm>
          <a:prstGeom prst="roundRect">
            <a:avLst/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46304" cy="86868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58968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對應我們：</a:t>
            </a:r>
            <a:r>
              <a:rPr sz="1400" b="0" i="0">
                <a:solidFill>
                  <a:srgbClr val="1A1A2E"/>
                </a:solidFill>
                <a:latin typeface="Microsoft JhengHei"/>
              </a:rPr>
              <a:t>感知塊即『可被驗證』的對象；我們用光流/scene-flow 檢核其時空主張。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原圖出處：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MoCA (arXiv 2605.14054)　（僅供研究討論，正式引用請標註原文）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7395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Paper Figures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28016" cy="365760"/>
          </a:xfrm>
          <a:prstGeom prst="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38912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6A33"/>
                </a:solidFill>
                <a:latin typeface="Microsoft JhengHei"/>
              </a:rPr>
              <a:t>架構 ② · 我們要升級的對象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A1A2E"/>
                </a:solidFill>
                <a:latin typeface="Microsoft JhengHei"/>
              </a:rPr>
              <a:t>Flow4Agent：光流估計 → 動態事件切分 → 跨模態查詢 →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3030240" y="1737360"/>
            <a:ext cx="6101040" cy="3474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4Agent_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960" y="1783080"/>
            <a:ext cx="600960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349240"/>
            <a:ext cx="10881360" cy="868680"/>
          </a:xfrm>
          <a:prstGeom prst="roundRect">
            <a:avLst/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46304" cy="86868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58968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對應我們：</a:t>
            </a:r>
            <a:r>
              <a:rPr sz="1400" b="1" i="0">
                <a:solidFill>
                  <a:srgbClr val="1A1A2E"/>
                </a:solidFill>
                <a:latin typeface="Microsoft JhengHei"/>
              </a:rPr>
              <a:t>光流只用於『選幀/剪 token』(壓縮 prior)，</a:t>
            </a:r>
            <a:r>
              <a:rPr sz="1400" b="1" i="0">
                <a:solidFill>
                  <a:srgbClr val="E86A33"/>
                </a:solidFill>
                <a:latin typeface="Microsoft JhengHei"/>
              </a:rPr>
              <a:t>沒當 reward —— 我們把它升級為訓練訊號。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原圖出處：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Flow4Agent (arXiv 2510.05836, ICCV 2025)　（僅供研究討論，正式引用請標註原文）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7395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Paper Figures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38912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架構 ③ · Reward 機制(含公式)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A1A2E"/>
                </a:solidFill>
                <a:latin typeface="Microsoft JhengHei"/>
              </a:rPr>
              <a:t>Smooth Operator / AP-GRPO：SNRA 動態 Sigmoid → 連續稠密 reward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1358" y="1737360"/>
            <a:ext cx="8718804" cy="3474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moothO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078" y="1783080"/>
            <a:ext cx="8627364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349240"/>
            <a:ext cx="10881360" cy="868680"/>
          </a:xfrm>
          <a:prstGeom prst="roundRect">
            <a:avLst/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46304" cy="86868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58968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對應我們：</a:t>
            </a:r>
            <a:r>
              <a:rPr sz="1400" b="0" i="0">
                <a:solidFill>
                  <a:srgbClr val="1A1A2E"/>
                </a:solidFill>
                <a:latin typeface="Microsoft JhengHei"/>
              </a:rPr>
              <a:t>我們借用『連續可驗證 reward』：Rᵢ=(1−λ)r̃ᵢ+λr_fmt，r̃ᵢ=σ(k·eᵢ)；把誤差 eᵢ 換成『4D 證據不一致度』。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原圖出處：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Smooth Operator (arXiv 2601.07695)　（僅供研究討論，正式引用請標註原文）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7395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Paper Figures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38912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問題 · Benchmark 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A1A2E"/>
                </a:solidFill>
                <a:latin typeface="Microsoft JhengHei"/>
              </a:rPr>
              <a:t>VLM4D：動態時空推理任務範例(平移/旋轉/視角/運動)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97535" y="1737360"/>
            <a:ext cx="6166449" cy="3474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LM4D_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255" y="1783080"/>
            <a:ext cx="6075009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349240"/>
            <a:ext cx="10881360" cy="868680"/>
          </a:xfrm>
          <a:prstGeom prst="roundRect">
            <a:avLst/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46304" cy="86868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58968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對應我們：</a:t>
            </a:r>
            <a:r>
              <a:rPr sz="1400" b="0" i="0">
                <a:solidFill>
                  <a:srgbClr val="1A1A2E"/>
                </a:solidFill>
                <a:latin typeface="Microsoft JhengHei"/>
              </a:rPr>
              <a:t>問題來源：VLM 在這類動態任務落後人類 36 分(98.8% vs 62.0%)。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原圖出處：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VLM4D (arXiv 2508.02095, ICCV 2025)　（僅供研究討論，正式引用請標註原文）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7395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Paper Figures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38912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Benchmark · 資料組成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A1A2E"/>
                </a:solidFill>
                <a:latin typeface="Microsoft JhengHei"/>
              </a:rPr>
              <a:t>VLM4D 資料組成：Exo/Ego/合成 × 平移/旋轉/計數/false-positive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34171" y="1737360"/>
            <a:ext cx="3893178" cy="34747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LM4D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891" y="1783080"/>
            <a:ext cx="3801738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349240"/>
            <a:ext cx="10881360" cy="868680"/>
          </a:xfrm>
          <a:prstGeom prst="roundRect">
            <a:avLst/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46304" cy="86868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58968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768E"/>
                </a:solidFill>
                <a:latin typeface="Microsoft JhengHei"/>
              </a:rPr>
              <a:t>對應我們：</a:t>
            </a:r>
            <a:r>
              <a:rPr sz="1400" b="0" i="0">
                <a:solidFill>
                  <a:srgbClr val="1A1A2E"/>
                </a:solidFill>
                <a:latin typeface="Microsoft JhengHei"/>
              </a:rPr>
              <a:t>主評測之一；動態任務占比高，最貼合我們的 flow reward 訴求。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原圖出處：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VLM4D (arXiv 2508.02095, ICCV 2025)　（僅供研究討論，正式引用請標註原文）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7395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370"/>
                </a:solidFill>
                <a:latin typeface="Segoe UI"/>
              </a:rPr>
              <a:t>Paper Figures ·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