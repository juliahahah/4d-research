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Q1。圖為原論文架構。未驗證段是報告時要誠實講的。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Q2 新穎性。圖用 Smooth Operator 原圖示範 depth-reward 長什麼樣,對照出 flow 的空白。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Q3 最關鍵。誠實呈現兩側證據並存;拆解實驗缺口可能是自己做實驗的機會。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Q4。無圖(資料集清單型)。重點在未驗證段的偽標噪音問題。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Q5。誠實標注:升級訊號的主張還沒有證據,工具成熟度要查。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Q6。警訊那條要講:RLVR 不誘發新能力的爭議直接威脅我們的故事。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Q7。刻意用支持/反對並列而非結論;最後一條 baseline 對照是 reviewer 最可能的一槍。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Q8=舊 P7 表+P8 表合併。R4D-Bench(4D-RGPT 自建)是最近的對照;它的 ablation 是學姊指定範本。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Q8 補充頁。重點:(1) MCQ vs 數值題兩種格式,數值題用相對準確率;(2) STI 的定量選項設計逼出度量能力;(3) 圖是 VLM4D 原 teaser,直接演示失敗案例。示意題需換原題。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收尾頁。這 6 題對應 notes/理解整理_7題.md 的「只有你能回答」欄。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0F768E"/>
                </a:solidFill>
                <a:latin typeface="Segoe UI"/>
              </a:rPr>
              <a:t>Q1　</a:t>
            </a:r>
            <a:r>
              <a:rPr sz="1250" b="0" i="0">
                <a:solidFill>
                  <a:srgbClr val="555B63"/>
                </a:solidFill>
                <a:latin typeface="Microsoft JhengHei"/>
              </a:rPr>
              <a:t>研究 Flow4Agent 如何使用 flow;training-free 做法有無可借用的點子。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04672"/>
            <a:ext cx="10881360" cy="1463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1" i="0">
                <a:solidFill>
                  <a:srgbClr val="111111"/>
                </a:solidFill>
                <a:latin typeface="Microsoft JhengHei"/>
              </a:rPr>
              <a:t>Flow4Agent:光流只當 training-free 壓縮 prior,未當訓練訊號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48640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55B63"/>
                </a:solidFill>
                <a:latin typeface="Segoe UI"/>
              </a:rPr>
              <a:t>— </a:t>
            </a:r>
            <a:r>
              <a:rPr sz="1400" b="0" i="0">
                <a:solidFill>
                  <a:srgbClr val="111111"/>
                </a:solidFill>
                <a:latin typeface="Microsoft JhengHei"/>
              </a:rPr>
              <a:t>TGO:粗光流分組相似幀 + 語意 prior 濾場景 → 幀階層。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55B63"/>
                </a:solidFill>
                <a:latin typeface="Segoe UI"/>
              </a:rPr>
              <a:t>— </a:t>
            </a:r>
            <a:r>
              <a:rPr sz="1400" b="0" i="0">
                <a:solidFill>
                  <a:srgbClr val="111111"/>
                </a:solidFill>
                <a:latin typeface="Microsoft JhengHei"/>
              </a:rPr>
              <a:t>MTP:細光流剪 frame 內冗餘 token。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55B63"/>
                </a:solidFill>
                <a:latin typeface="Segoe UI"/>
              </a:rPr>
              <a:t>— </a:t>
            </a:r>
            <a:r>
              <a:rPr sz="1400" b="0" i="0">
                <a:solidFill>
                  <a:srgbClr val="111111"/>
                </a:solidFill>
                <a:latin typeface="Microsoft JhengHei"/>
              </a:rPr>
              <a:t>Video-MME 64.7 / MLVU 71.4 / LongVideoBench 60.4;消融:DES 升短片、ECQ/MTP 升長片。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55B63"/>
                </a:solidFill>
                <a:latin typeface="Segoe UI"/>
              </a:rPr>
              <a:t>— </a:t>
            </a:r>
            <a:r>
              <a:rPr sz="1400" b="1" i="0">
                <a:solidFill>
                  <a:srgbClr val="111111"/>
                </a:solidFill>
                <a:latin typeface="Microsoft JhengHei"/>
              </a:rPr>
              <a:t>可借:光流能標定「哪裡有運動證據」→ 可從壓縮升級為 reward。</a:t>
            </a:r>
          </a:p>
        </p:txBody>
      </p:sp>
      <p:pic>
        <p:nvPicPr>
          <p:cNvPr id="7" name="Picture 6" descr="Flow4Agent_x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124753"/>
            <a:ext cx="5120640" cy="288281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503499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1">
                <a:solidFill>
                  <a:srgbClr val="555B63"/>
                </a:solidFill>
                <a:latin typeface="Microsoft JhengHei"/>
              </a:rPr>
              <a:t>Flow4Agent 架構圖(取自 arXiv 2510.05836 HTML 原圖)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06440"/>
            <a:ext cx="108813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B44A1E"/>
                </a:solidFill>
                <a:latin typeface="Microsoft JhengHei"/>
              </a:rPr>
              <a:t>未驗證：</a:t>
            </a:r>
            <a:r>
              <a:rPr sz="1150" b="0" i="0">
                <a:solidFill>
                  <a:srgbClr val="111111"/>
                </a:solidFill>
                <a:latin typeface="Microsoft JhengHei"/>
              </a:rPr>
              <a:t>TGO/MTP 的 flow 具體計算方式(用哪個 estimator、幾幀間)未讀 method 段;增益來自「運動資訊」或僅「去冗餘」待從 ablation 判斷。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550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 i="0">
                <a:solidFill>
                  <a:srgbClr val="555B63"/>
                </a:solidFill>
                <a:latin typeface="Microsoft JhengHei"/>
              </a:rPr>
              <a:t>依據：</a:t>
            </a:r>
            <a:r>
              <a:rPr sz="950" b="0" i="1">
                <a:solidFill>
                  <a:srgbClr val="555B63"/>
                </a:solidFill>
                <a:latin typeface="Segoe UI"/>
              </a:rPr>
              <a:t>Flow4Agent, arXiv 2510.05836 (ICCV 2025)。數字為論文自報。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555B63"/>
                </a:solidFill>
                <a:latin typeface="Segoe UI"/>
              </a:rPr>
              <a:t>1/10 · 草稿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0F768E"/>
                </a:solidFill>
                <a:latin typeface="Segoe UI"/>
              </a:rPr>
              <a:t>Q2　</a:t>
            </a:r>
            <a:r>
              <a:rPr sz="1250" b="0" i="0">
                <a:solidFill>
                  <a:srgbClr val="555B63"/>
                </a:solidFill>
                <a:latin typeface="Microsoft JhengHei"/>
              </a:rPr>
              <a:t>是否已有研究把 depth / flow 放進 GRPO reward(不限 4D)?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04672"/>
            <a:ext cx="10881360" cy="1463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1" i="0">
                <a:solidFill>
                  <a:srgbClr val="111111"/>
                </a:solidFill>
                <a:latin typeface="Microsoft JhengHei"/>
              </a:rPr>
              <a:t>depth 當 reward 已多見;flow 一致性當推理 reward 搜尋範圍內未見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88136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55B63"/>
                </a:solidFill>
                <a:latin typeface="Segoe UI"/>
              </a:rPr>
              <a:t>— </a:t>
            </a:r>
            <a:r>
              <a:rPr sz="1400" b="0" i="0">
                <a:solidFill>
                  <a:srgbClr val="111111"/>
                </a:solidFill>
                <a:latin typeface="Microsoft JhengHei"/>
              </a:rPr>
              <a:t>depth/3D 先例:Smooth Operator/AP-GRPO (2601.07695)、3D-R1 (2507.23478)、N3D-VLM (2512.16561)、DepthLM。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55B63"/>
                </a:solidFill>
                <a:latin typeface="Segoe UI"/>
              </a:rPr>
              <a:t>— </a:t>
            </a:r>
            <a:r>
              <a:rPr sz="1400" b="0" i="0">
                <a:solidFill>
                  <a:srgbClr val="111111"/>
                </a:solidFill>
                <a:latin typeface="Microsoft JhengHei"/>
              </a:rPr>
              <a:t>flow 現有用法 = 輸入/CoT/剪枝(Flow4Agent、Optical-Flow CoT 2507.13362),非 reward。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55B63"/>
                </a:solidFill>
                <a:latin typeface="Segoe UI"/>
              </a:rPr>
              <a:t>— </a:t>
            </a:r>
            <a:r>
              <a:rPr sz="1400" b="0" i="0">
                <a:solidFill>
                  <a:srgbClr val="111111"/>
                </a:solidFill>
                <a:latin typeface="Microsoft JhengHei"/>
              </a:rPr>
              <a:t>最近鄰:VGGRPO (2603.26599, 影片生成)、Video-R2 (2511.23478, 時間戳對齊)——皆非光流一致性。</a:t>
            </a:r>
          </a:p>
        </p:txBody>
      </p:sp>
      <p:pic>
        <p:nvPicPr>
          <p:cNvPr id="7" name="Picture 6" descr="SmoothOp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6110" y="3383280"/>
            <a:ext cx="5829300" cy="2286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166110" y="5696712"/>
            <a:ext cx="58293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1">
                <a:solidFill>
                  <a:srgbClr val="555B63"/>
                </a:solidFill>
                <a:latin typeface="Microsoft JhengHei"/>
              </a:rPr>
              <a:t>depth 類 reward 的代表:AP-GRPO 流程與 SNRA 公式(取自 arXiv 2601.07695 原圖)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06440"/>
            <a:ext cx="108813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B44A1E"/>
                </a:solidFill>
                <a:latin typeface="Microsoft JhengHei"/>
              </a:rPr>
              <a:t>未驗證：</a:t>
            </a:r>
            <a:r>
              <a:rPr sz="1150" b="0" i="0">
                <a:solidFill>
                  <a:srgbClr val="111111"/>
                </a:solidFill>
                <a:latin typeface="Microsoft JhengHei"/>
              </a:rPr>
              <a:t>「搜不到≠不存在」。已搜關鍵字:optical flow reward GRPO / motion consistency reward / temporal consistency verifiable reward。仍需自行掃 arXiv 近 3 個月與引用鏈;MetaSpatial 編號未查證。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550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 i="0">
                <a:solidFill>
                  <a:srgbClr val="555B63"/>
                </a:solidFill>
                <a:latin typeface="Microsoft JhengHei"/>
              </a:rPr>
              <a:t>依據：</a:t>
            </a:r>
            <a:r>
              <a:rPr sz="950" b="0" i="1">
                <a:solidFill>
                  <a:srgbClr val="555B63"/>
                </a:solidFill>
                <a:latin typeface="Segoe UI"/>
              </a:rPr>
              <a:t>如上各 arXiv 編號;搜尋時間 2026/07。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555B63"/>
                </a:solidFill>
                <a:latin typeface="Segoe UI"/>
              </a:rPr>
              <a:t>2/10 · 草稿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0F768E"/>
                </a:solidFill>
                <a:latin typeface="Segoe UI"/>
              </a:rPr>
              <a:t>Q3　</a:t>
            </a:r>
            <a:r>
              <a:rPr sz="1250" b="0" i="0">
                <a:solidFill>
                  <a:srgbClr val="555B63"/>
                </a:solidFill>
                <a:latin typeface="Microsoft JhengHei"/>
              </a:rPr>
              <a:t>VLM 為何表現差?(4D 感知不足 vs. LLM 推理未發揮)→ reward 設計依據。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04672"/>
            <a:ext cx="10881360" cy="1463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1" i="0">
                <a:solidFill>
                  <a:srgbClr val="111111"/>
                </a:solidFill>
                <a:latin typeface="Microsoft JhengHei"/>
              </a:rPr>
              <a:t>兩側證據並存,4D 任務上尚無人做過拆解實驗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60350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55B63"/>
                </a:solidFill>
                <a:latin typeface="Segoe UI"/>
              </a:rPr>
              <a:t>— </a:t>
            </a:r>
            <a:r>
              <a:rPr sz="1400" b="0" i="0">
                <a:solidFill>
                  <a:srgbClr val="111111"/>
                </a:solidFill>
                <a:latin typeface="Microsoft JhengHei"/>
              </a:rPr>
              <a:t>支持「感知端」:VLM4D 人類 98.8 vs 最佳 62.0;弱在整合線索+時間一致性。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55B63"/>
                </a:solidFill>
                <a:latin typeface="Segoe UI"/>
              </a:rPr>
              <a:t>— </a:t>
            </a:r>
            <a:r>
              <a:rPr sz="1400" b="0" i="0">
                <a:solidFill>
                  <a:srgbClr val="111111"/>
                </a:solidFill>
                <a:latin typeface="Microsoft JhengHei"/>
              </a:rPr>
              <a:t>支持「推理端」:MindCube (2506.21458) 只調 LLM 51.43% vs baseline 37.81%,瓶頸幾乎全在 LLM(它的任務,非 4D)。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55B63"/>
                </a:solidFill>
                <a:latin typeface="Segoe UI"/>
              </a:rPr>
              <a:t>— </a:t>
            </a:r>
            <a:r>
              <a:rPr sz="1400" b="0" i="0">
                <a:solidFill>
                  <a:srgbClr val="111111"/>
                </a:solidFill>
                <a:latin typeface="Microsoft JhengHei"/>
              </a:rPr>
              <a:t>任務相依:CrossMath (2604.16256) 數學題卡推理深度(純文 97.3 vs 純圖 35.7)。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55B63"/>
                </a:solidFill>
                <a:latin typeface="Segoe UI"/>
              </a:rPr>
              <a:t>— </a:t>
            </a:r>
            <a:r>
              <a:rPr sz="1400" b="0" i="0">
                <a:solidFill>
                  <a:srgbClr val="111111"/>
                </a:solidFill>
                <a:latin typeface="Microsoft JhengHei"/>
              </a:rPr>
              <a:t>歸因工具:MoCA 蒙眼推理器 → 判「壞在看/壞在想」,可直接接 reward(右圖)。</a:t>
            </a:r>
          </a:p>
        </p:txBody>
      </p:sp>
      <p:pic>
        <p:nvPicPr>
          <p:cNvPr id="7" name="Picture 6" descr="MoCA_x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819160"/>
            <a:ext cx="4572000" cy="367687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49440" y="5523471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1">
                <a:solidFill>
                  <a:srgbClr val="555B63"/>
                </a:solidFill>
                <a:latin typeface="Microsoft JhengHei"/>
              </a:rPr>
              <a:t>MoCA/VL-Scaler:蒙眼推理器 + 感知/結果雙驗證(取自 arXiv 2605.14054 原圖)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06440"/>
            <a:ext cx="108813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B44A1E"/>
                </a:solidFill>
                <a:latin typeface="Microsoft JhengHei"/>
              </a:rPr>
              <a:t>未驗證：</a:t>
            </a:r>
            <a:r>
              <a:rPr sz="1150" b="0" i="0">
                <a:solidFill>
                  <a:srgbClr val="111111"/>
                </a:solidFill>
                <a:latin typeface="Microsoft JhengHei"/>
              </a:rPr>
              <a:t>「4D 瓶頸在感知端」只是由 VLM4D 失敗描述推測;VLM4D 沒做 encoder-vs-LLM 拆解,MindCube 沒測 4D 任務。此為方向地基,仍懸而未決。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550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 i="0">
                <a:solidFill>
                  <a:srgbClr val="555B63"/>
                </a:solidFill>
                <a:latin typeface="Microsoft JhengHei"/>
              </a:rPr>
              <a:t>依據：</a:t>
            </a:r>
            <a:r>
              <a:rPr sz="950" b="0" i="1">
                <a:solidFill>
                  <a:srgbClr val="555B63"/>
                </a:solidFill>
                <a:latin typeface="Segoe UI"/>
              </a:rPr>
              <a:t>VLM4D 2508.02095 · MindCube 2506.21458 · CrossMath 2604.16256 · MoCA 2605.14054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555B63"/>
                </a:solidFill>
                <a:latin typeface="Segoe UI"/>
              </a:rPr>
              <a:t>3/10 · 草稿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0F768E"/>
                </a:solidFill>
                <a:latin typeface="Segoe UI"/>
              </a:rPr>
              <a:t>Q4　</a:t>
            </a:r>
            <a:r>
              <a:rPr sz="1250" b="0" i="0">
                <a:solidFill>
                  <a:srgbClr val="555B63"/>
                </a:solidFill>
                <a:latin typeface="Microsoft JhengHei"/>
              </a:rPr>
              <a:t>有沒有已帶 depth 資訊的資料集?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04672"/>
            <a:ext cx="10881360" cy="1463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1" i="0">
                <a:solidFill>
                  <a:srgbClr val="111111"/>
                </a:solidFill>
                <a:latin typeface="Microsoft JhengHei"/>
              </a:rPr>
              <a:t>有:真實 RGB-D + 合成 flow/depth 皆現成;偽標可再擴大規模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88136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55B63"/>
                </a:solidFill>
                <a:latin typeface="Segoe UI"/>
              </a:rPr>
              <a:t>— </a:t>
            </a:r>
            <a:r>
              <a:rPr sz="1400" b="0" i="0">
                <a:solidFill>
                  <a:srgbClr val="111111"/>
                </a:solidFill>
                <a:latin typeface="Microsoft JhengHei"/>
              </a:rPr>
              <a:t>真實:ARKitScenes(5,048 序列,雷射 GT 深度,2111.08897)、ScanNet/ScanNet++(VSI-Bench 之來源)。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55B63"/>
                </a:solidFill>
                <a:latin typeface="Segoe UI"/>
              </a:rPr>
              <a:t>— </a:t>
            </a:r>
            <a:r>
              <a:rPr sz="1400" b="0" i="0">
                <a:solidFill>
                  <a:srgbClr val="111111"/>
                </a:solidFill>
                <a:latin typeface="Microsoft JhengHei"/>
              </a:rPr>
              <a:t>合成含 flow:Spring、FlyingThings3D、Virtual KITTI 2(GT scene flow)、Dynamic Replica(光流+3D 點追蹤)。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55B63"/>
                </a:solidFill>
                <a:latin typeface="Segoe UI"/>
              </a:rPr>
              <a:t>— </a:t>
            </a:r>
            <a:r>
              <a:rPr sz="1400" b="0" i="0">
                <a:solidFill>
                  <a:srgbClr val="111111"/>
                </a:solidFill>
                <a:latin typeface="Microsoft JhengHei"/>
              </a:rPr>
              <a:t>偽標:Depth Anything V2(NeurIPS'24)+ RAFT/FlowSeek(2509.05297)→ 任意影片自動生 depth/flow。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55B63"/>
                </a:solidFill>
                <a:latin typeface="Segoe UI"/>
              </a:rPr>
              <a:t>— </a:t>
            </a:r>
            <a:r>
              <a:rPr sz="1400" b="1" i="0">
                <a:solidFill>
                  <a:srgbClr val="111111"/>
                </a:solidFill>
                <a:latin typeface="Microsoft JhengHei"/>
              </a:rPr>
              <a:t>用法:GT 資料先驗證 reward 概念 → 偽標擴到大規模真實影片。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06440"/>
            <a:ext cx="108813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B44A1E"/>
                </a:solidFill>
                <a:latin typeface="Microsoft JhengHei"/>
              </a:rPr>
              <a:t>未驗證：</a:t>
            </a:r>
            <a:r>
              <a:rPr sz="1150" b="0" i="0">
                <a:solidFill>
                  <a:srgbClr val="111111"/>
                </a:solidFill>
                <a:latin typeface="Microsoft JhengHei"/>
              </a:rPr>
              <a:t>各資料集授權與規模是否夠 GRPO 訓練未查;偽標在動態/遮擋場景的誤差(= reward 噪音)未量化——偽標錯則 reward 錯,這是方法設計要正面回答的問題。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 i="0">
                <a:solidFill>
                  <a:srgbClr val="555B63"/>
                </a:solidFill>
                <a:latin typeface="Microsoft JhengHei"/>
              </a:rPr>
              <a:t>依據：</a:t>
            </a:r>
            <a:r>
              <a:rPr sz="950" b="0" i="1">
                <a:solidFill>
                  <a:srgbClr val="555B63"/>
                </a:solidFill>
                <a:latin typeface="Segoe UI"/>
              </a:rPr>
              <a:t>ARKitScenes 2111.08897 · Spring · Virtual KITTI 2 · Dynamic Replica · Depth Anything V2 · FlowSeek 2509.05297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555B63"/>
                </a:solidFill>
                <a:latin typeface="Segoe UI"/>
              </a:rPr>
              <a:t>4/10 · 草稿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0F768E"/>
                </a:solidFill>
                <a:latin typeface="Segoe UI"/>
              </a:rPr>
              <a:t>Q5　</a:t>
            </a:r>
            <a:r>
              <a:rPr sz="1250" b="0" i="0">
                <a:solidFill>
                  <a:srgbClr val="555B63"/>
                </a:solidFill>
                <a:latin typeface="Microsoft JhengHei"/>
              </a:rPr>
              <a:t>depth / flow 以外還有哪些證據模態?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04672"/>
            <a:ext cx="10881360" cy="1463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1" i="0">
                <a:solidFill>
                  <a:srgbClr val="111111"/>
                </a:solidFill>
                <a:latin typeface="Microsoft JhengHei"/>
              </a:rPr>
              <a:t>候選裡最貼 4D:scene flow 與 3D 點追蹤;但「更好」目前只是推論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88136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55B63"/>
                </a:solidFill>
                <a:latin typeface="Segoe UI"/>
              </a:rPr>
              <a:t>— </a:t>
            </a:r>
            <a:r>
              <a:rPr sz="1400" b="0" i="0">
                <a:solidFill>
                  <a:srgbClr val="111111"/>
                </a:solidFill>
                <a:latin typeface="Microsoft JhengHei"/>
              </a:rPr>
              <a:t>scene flow(3D 運動場):把 depth+flow 合為單一訊號。GT:Virtual KITTI 2 / FlyingThings3D。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55B63"/>
                </a:solidFill>
                <a:latin typeface="Segoe UI"/>
              </a:rPr>
              <a:t>— </a:t>
            </a:r>
            <a:r>
              <a:rPr sz="1400" b="0" i="0">
                <a:solidFill>
                  <a:srgbClr val="111111"/>
                </a:solidFill>
                <a:latin typeface="Microsoft JhengHei"/>
              </a:rPr>
              <a:t>3D 點追蹤:直接量時間一致性(VLM4D 指出的弱點)。GT:PointOdyssey / Dynamic Replica。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55B63"/>
                </a:solidFill>
                <a:latin typeface="Segoe UI"/>
              </a:rPr>
              <a:t>— </a:t>
            </a:r>
            <a:r>
              <a:rPr sz="1400" b="0" i="0">
                <a:solidFill>
                  <a:srgbClr val="111111"/>
                </a:solidFill>
                <a:latin typeface="Microsoft JhengHei"/>
              </a:rPr>
              <a:t>其他:相機位姿、表面法線、分割遮罩、點雲、BEV、多視角一致性。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06440"/>
            <a:ext cx="108813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B44A1E"/>
                </a:solidFill>
                <a:latin typeface="Microsoft JhengHei"/>
              </a:rPr>
              <a:t>未驗證：</a:t>
            </a:r>
            <a:r>
              <a:rPr sz="1150" b="0" i="0">
                <a:solidFill>
                  <a:srgbClr val="111111"/>
                </a:solidFill>
                <a:latin typeface="Microsoft JhengHei"/>
              </a:rPr>
              <a:t>scene-flow / 點追蹤的「任意影片偽標」工具成熟度未查(是否有 Depth-Anything 等級的基礎模型);「比 2D flow 更好」無實驗依據。第一版訊號選擇(成熟的 2D flow vs 更貼 4D 的 scene flow)是 scope 決策。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 i="0">
                <a:solidFill>
                  <a:srgbClr val="555B63"/>
                </a:solidFill>
                <a:latin typeface="Microsoft JhengHei"/>
              </a:rPr>
              <a:t>依據：</a:t>
            </a:r>
            <a:r>
              <a:rPr sz="950" b="0" i="1">
                <a:solidFill>
                  <a:srgbClr val="555B63"/>
                </a:solidFill>
                <a:latin typeface="Segoe UI"/>
              </a:rPr>
              <a:t>資料集見 notes/C_資料集與證據模態.md;N3D-VLM 2512.16561 · SpaceMind 2511.23075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555B63"/>
                </a:solidFill>
                <a:latin typeface="Segoe UI"/>
              </a:rPr>
              <a:t>5/10 · 草稿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0F768E"/>
                </a:solidFill>
                <a:latin typeface="Segoe UI"/>
              </a:rPr>
              <a:t>Q6　</a:t>
            </a:r>
            <a:r>
              <a:rPr sz="1250" b="0" i="0">
                <a:solidFill>
                  <a:srgbClr val="555B63"/>
                </a:solidFill>
                <a:latin typeface="Microsoft JhengHei"/>
              </a:rPr>
              <a:t>「reward function 設計提升能力」的相關論文(可含視覺以外)?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04672"/>
            <a:ext cx="10881360" cy="1463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1" i="0">
                <a:solidFill>
                  <a:srgbClr val="111111"/>
                </a:solidFill>
                <a:latin typeface="Microsoft JhengHei"/>
              </a:rPr>
              <a:t>RLVR 是主流範式;共同痛點 outcome-only 太稀疏 → 連續化/過程化是對策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88136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55B63"/>
                </a:solidFill>
                <a:latin typeface="Segoe UI"/>
              </a:rPr>
              <a:t>— </a:t>
            </a:r>
            <a:r>
              <a:rPr sz="1400" b="0" i="0">
                <a:solidFill>
                  <a:srgbClr val="111111"/>
                </a:solidFill>
                <a:latin typeface="Microsoft JhengHei"/>
              </a:rPr>
              <a:t>RLVR:可程式驗證準則當 rule-based reward,低標註、緩解 hacking(survey 2508.08189)。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55B63"/>
                </a:solidFill>
                <a:latin typeface="Segoe UI"/>
              </a:rPr>
              <a:t>— </a:t>
            </a:r>
            <a:r>
              <a:rPr sz="1400" b="0" i="0">
                <a:solidFill>
                  <a:srgbClr val="111111"/>
                </a:solidFill>
                <a:latin typeface="Microsoft JhengHei"/>
              </a:rPr>
              <a:t>對策:過程 reward(Perception-PRM 2604.24583)、連續稠密化(SNRA,下圖)。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55B63"/>
                </a:solidFill>
                <a:latin typeface="Segoe UI"/>
              </a:rPr>
              <a:t>— </a:t>
            </a:r>
            <a:r>
              <a:rPr sz="1400" b="1" i="0">
                <a:solidFill>
                  <a:srgbClr val="111111"/>
                </a:solidFill>
                <a:latin typeface="Microsoft JhengHei"/>
              </a:rPr>
              <a:t>警訊:有研究認為 RLVR 只放大既有行為、不誘發新推理(OpenReview 4OsgYD7em5)——對我們也是威脅。</a:t>
            </a:r>
          </a:p>
        </p:txBody>
      </p:sp>
      <p:pic>
        <p:nvPicPr>
          <p:cNvPr id="7" name="Picture 6" descr="SmoothOp_sigmo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5330" y="3794760"/>
            <a:ext cx="7630859" cy="1737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65330" y="5559552"/>
            <a:ext cx="76308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1">
                <a:solidFill>
                  <a:srgbClr val="555B63"/>
                </a:solidFill>
                <a:latin typeface="Microsoft JhengHei"/>
              </a:rPr>
              <a:t>SNRA:把 near-miss 誤差經動態 Sigmoid 轉成連續 reward(取自 arXiv 2601.07695 原圖)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06440"/>
            <a:ext cx="108813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B44A1E"/>
                </a:solidFill>
                <a:latin typeface="Microsoft JhengHei"/>
              </a:rPr>
              <a:t>未驗證：</a:t>
            </a:r>
            <a:r>
              <a:rPr sz="1150" b="0" i="0">
                <a:solidFill>
                  <a:srgbClr val="111111"/>
                </a:solidFill>
                <a:latin typeface="Microsoft JhengHei"/>
              </a:rPr>
              <a:t>跨領域(code RL 測試通過率、math 部分分、robotics shaped reward)尚未系統掃描;flow-consistency reward 的可 hack 性(模型學會講模糊安全的描述騙分)未分析。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550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 i="0">
                <a:solidFill>
                  <a:srgbClr val="555B63"/>
                </a:solidFill>
                <a:latin typeface="Microsoft JhengHei"/>
              </a:rPr>
              <a:t>依據：</a:t>
            </a:r>
            <a:r>
              <a:rPr sz="950" b="0" i="1">
                <a:solidFill>
                  <a:srgbClr val="555B63"/>
                </a:solidFill>
                <a:latin typeface="Segoe UI"/>
              </a:rPr>
              <a:t>RLVR survey 2508.08189 · Perception-PRM 2604.24583 · Smooth Operator 2601.07695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555B63"/>
                </a:solidFill>
                <a:latin typeface="Segoe UI"/>
              </a:rPr>
              <a:t>6/10 · 草稿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0F768E"/>
                </a:solidFill>
                <a:latin typeface="Segoe UI"/>
              </a:rPr>
              <a:t>Q7　</a:t>
            </a:r>
            <a:r>
              <a:rPr sz="1250" b="0" i="0">
                <a:solidFill>
                  <a:srgbClr val="555B63"/>
                </a:solidFill>
                <a:latin typeface="Microsoft JhengHei"/>
              </a:rPr>
              <a:t>確立方向的最大賣點。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04672"/>
            <a:ext cx="10881360" cy="1463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1" i="0">
                <a:solidFill>
                  <a:srgbClr val="111111"/>
                </a:solidFill>
                <a:latin typeface="Microsoft JhengHei"/>
              </a:rPr>
              <a:t>候選賣點:flow/scene-flow 一致性當可驗證 reward(此句需你自己重寫)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65836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55B63"/>
                </a:solidFill>
                <a:latin typeface="Segoe UI"/>
              </a:rPr>
              <a:t>— </a:t>
            </a:r>
            <a:r>
              <a:rPr sz="1400" b="0" i="0">
                <a:solidFill>
                  <a:srgbClr val="111111"/>
                </a:solidFill>
                <a:latin typeface="Microsoft JhengHei"/>
              </a:rPr>
              <a:t>支持:depth-as-reward 擁擠、flow 空白(Q2);4D 評測無 flow 一致性項(Q8);偽標可規模化(Q4)。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55B63"/>
                </a:solidFill>
                <a:latin typeface="Segoe UI"/>
              </a:rPr>
              <a:t>— </a:t>
            </a:r>
            <a:r>
              <a:rPr sz="1400" b="0" i="0">
                <a:solidFill>
                  <a:srgbClr val="111111"/>
                </a:solidFill>
                <a:latin typeface="Microsoft JhengHei"/>
              </a:rPr>
              <a:t>反對/風險:根因未定(Q3);偽標=蒸餾天花板(Q4);RLVR 不誘發新能力的爭議(Q6);一致性 verifier 難做——自然語言主張 vs 稠密光流場的比對是真正難點。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55B63"/>
                </a:solidFill>
                <a:latin typeface="Segoe UI"/>
              </a:rPr>
              <a:t>— </a:t>
            </a:r>
            <a:r>
              <a:rPr sz="1400" b="1" i="0">
                <a:solidFill>
                  <a:srgbClr val="111111"/>
                </a:solidFill>
                <a:latin typeface="Microsoft JhengHei"/>
              </a:rPr>
              <a:t>必要對照:RL-with-flow-reward vs SFT-with-flow-as-input——若後者追平,reward 故事不成立。</a:t>
            </a:r>
          </a:p>
        </p:txBody>
      </p:sp>
      <p:pic>
        <p:nvPicPr>
          <p:cNvPr id="7" name="Picture 6" descr="VLM4D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821626"/>
            <a:ext cx="4023360" cy="358050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79" y="5429565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1">
                <a:solidFill>
                  <a:srgbClr val="555B63"/>
                </a:solidFill>
                <a:latin typeface="Microsoft JhengHei"/>
              </a:rPr>
              <a:t>主評測 VLM4D 的任務組成(取自 arXiv 2508.02095 原圖)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06440"/>
            <a:ext cx="108813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B44A1E"/>
                </a:solidFill>
                <a:latin typeface="Microsoft JhengHei"/>
              </a:rPr>
              <a:t>未驗證：</a:t>
            </a:r>
            <a:r>
              <a:rPr sz="1150" b="0" i="0">
                <a:solidFill>
                  <a:srgbClr val="111111"/>
                </a:solidFill>
                <a:latin typeface="Microsoft JhengHei"/>
              </a:rPr>
              <a:t>以上為支持/反對兩欄並列,不下結論——賣點最終版由你重寫(skill 憲法)。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550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 i="0">
                <a:solidFill>
                  <a:srgbClr val="555B63"/>
                </a:solidFill>
                <a:latin typeface="Microsoft JhengHei"/>
              </a:rPr>
              <a:t>依據：</a:t>
            </a:r>
            <a:r>
              <a:rPr sz="950" b="0" i="1">
                <a:solidFill>
                  <a:srgbClr val="555B63"/>
                </a:solidFill>
                <a:latin typeface="Segoe UI"/>
              </a:rPr>
              <a:t>彙整自 Q2/Q3/Q4/Q6/Q8 各頁之來源。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555B63"/>
                </a:solidFill>
                <a:latin typeface="Segoe UI"/>
              </a:rPr>
              <a:t>7/10 · 草稿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0F768E"/>
                </a:solidFill>
                <a:latin typeface="Segoe UI"/>
              </a:rPr>
              <a:t>Q8　</a:t>
            </a:r>
            <a:r>
              <a:rPr sz="1250" b="0" i="0">
                <a:solidFill>
                  <a:srgbClr val="555B63"/>
                </a:solidFill>
                <a:latin typeface="Microsoft JhengHei"/>
              </a:rPr>
              <a:t>4D 常見 benchmark 及彼此差異(STI、VLM4D 等;含導讀論文實際使用)。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04672"/>
            <a:ext cx="10881360" cy="1463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1" i="0">
                <a:solidFill>
                  <a:srgbClr val="111111"/>
                </a:solidFill>
                <a:latin typeface="Microsoft JhengHei"/>
              </a:rPr>
              <a:t>深度/時空評測齊全可沿用;全場沒有「flow 一致性」評測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874519"/>
          <a:ext cx="10881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651760"/>
                <a:gridCol w="548640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Benchmark</a:t>
                      </a:r>
                    </a:p>
                  </a:txBody>
                  <a:tcPr marL="63500" marR="50800" marT="25400" marB="25400" anchor="ctr">
                    <a:solidFill>
                      <a:srgbClr val="11111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誰在用(導讀論文)</a:t>
                      </a:r>
                    </a:p>
                  </a:txBody>
                  <a:tcPr marL="63500" marR="50800" marT="25400" marB="25400" anchor="ctr">
                    <a:solidFill>
                      <a:srgbClr val="11111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測什麼 / 差異</a:t>
                      </a:r>
                    </a:p>
                  </a:txBody>
                  <a:tcPr marL="63500" marR="50800" marT="25400" marB="25400" anchor="ctr">
                    <a:solidFill>
                      <a:srgbClr val="111111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F768E"/>
                          </a:solidFill>
                          <a:latin typeface="Microsoft JhengHei"/>
                        </a:rPr>
                        <a:t>VSI-Bench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JhengHei"/>
                        </a:rPr>
                        <a:t>VER · Video-R1 · Video-STR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JhengHei"/>
                        </a:rPr>
                        <a:t>3D 空間認知;ScanNet 系,場景自帶深度。Video-STR 33.0→46.5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F768E"/>
                          </a:solidFill>
                          <a:latin typeface="Microsoft JhengHei"/>
                        </a:rPr>
                        <a:t>STI-Bench</a:t>
                      </a:r>
                    </a:p>
                  </a:txBody>
                  <a:tcPr marL="63500" marR="50800" marT="25400" marB="254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JhengHei"/>
                        </a:rPr>
                        <a:t>4D-RGPT · Video-STR</a:t>
                      </a:r>
                    </a:p>
                  </a:txBody>
                  <a:tcPr marL="63500" marR="50800" marT="25400" marB="254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JhengHei"/>
                        </a:rPr>
                        <a:t>精確量測(距離/速度);定量。Video-STR 34.7→39.3</a:t>
                      </a:r>
                    </a:p>
                  </a:txBody>
                  <a:tcPr marL="63500" marR="50800" marT="25400" marB="25400" anchor="ctr">
                    <a:solidFill>
                      <a:srgbClr val="F4F5F6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F768E"/>
                          </a:solidFill>
                          <a:latin typeface="Microsoft JhengHei"/>
                        </a:rPr>
                        <a:t>VLM4D (-real)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JhengHei"/>
                        </a:rPr>
                        <a:t>4D-RGPT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JhengHei"/>
                        </a:rPr>
                        <a:t>動態:平移/旋轉/視角/運動連續性(+6.2);人類-SOTA 差 36 分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F768E"/>
                          </a:solidFill>
                          <a:latin typeface="Microsoft JhengHei"/>
                        </a:rPr>
                        <a:t>VSTI-Bench</a:t>
                      </a:r>
                    </a:p>
                  </a:txBody>
                  <a:tcPr marL="63500" marR="50800" marT="25400" marB="254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JhengHei"/>
                        </a:rPr>
                        <a:t>4D-RGPT</a:t>
                      </a:r>
                    </a:p>
                  </a:txBody>
                  <a:tcPr marL="63500" marR="50800" marT="25400" marB="254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JhengHei"/>
                        </a:rPr>
                        <a:t>時空數值題,相對準確率(+13.9)</a:t>
                      </a:r>
                    </a:p>
                  </a:txBody>
                  <a:tcPr marL="63500" marR="50800" marT="25400" marB="25400" anchor="ctr">
                    <a:solidFill>
                      <a:srgbClr val="F4F5F6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F768E"/>
                          </a:solidFill>
                          <a:latin typeface="Microsoft JhengHei"/>
                        </a:rPr>
                        <a:t>R4D-Bench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JhengHei"/>
                        </a:rPr>
                        <a:t>4D-RGPT 自建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JhengHei"/>
                        </a:rPr>
                        <a:t>首個動態+region 4D VQA(~1.5k,9 類);源自 STI+VLM4D;Avg 42.2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F768E"/>
                          </a:solidFill>
                          <a:latin typeface="Microsoft JhengHei"/>
                        </a:rPr>
                        <a:t>STV-205k</a:t>
                      </a:r>
                    </a:p>
                  </a:txBody>
                  <a:tcPr marL="63500" marR="50800" marT="25400" marB="254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JhengHei"/>
                        </a:rPr>
                        <a:t>Video-STR 自建(訓練)</a:t>
                      </a:r>
                    </a:p>
                  </a:txBody>
                  <a:tcPr marL="63500" marR="50800" marT="25400" marB="2540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JhengHei"/>
                        </a:rPr>
                        <a:t>TAO+ScanNet+KITTI 逐幀標註;深度來源</a:t>
                      </a:r>
                    </a:p>
                  </a:txBody>
                  <a:tcPr marL="63500" marR="50800" marT="25400" marB="25400" anchor="ctr">
                    <a:solidFill>
                      <a:srgbClr val="F4F5F6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F768E"/>
                          </a:solidFill>
                          <a:latin typeface="Microsoft JhengHei"/>
                        </a:rPr>
                        <a:t>Spatial4D / DSI / OmniSpatial 等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JhengHei"/>
                        </a:rPr>
                        <a:t>(未在導讀論文)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Microsoft JhengHei"/>
                        </a:rPr>
                        <a:t>廣覆蓋 4D(~40k QA)/純動態/空間系列——差異軸:靜vs動、真實vs合成、定量、規模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806440"/>
            <a:ext cx="108813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B44A1E"/>
                </a:solidFill>
                <a:latin typeface="Microsoft JhengHei"/>
              </a:rPr>
              <a:t>未驗證：</a:t>
            </a:r>
            <a:r>
              <a:rPr sz="1150" b="0" i="0">
                <a:solidFill>
                  <a:srgbClr val="111111"/>
                </a:solidFill>
                <a:latin typeface="Microsoft JhengHei"/>
              </a:rPr>
              <a:t>STI-Bench 任務細節、DSI-Bench 規模、3DSRBench 皆只有摘要層級;各 benchmark 人類-SOTA 差距只有 VLM4D 的 36 分確認過。表中增益數字為各論文自報,引用前需對原文。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 i="0">
                <a:solidFill>
                  <a:srgbClr val="555B63"/>
                </a:solidFill>
                <a:latin typeface="Microsoft JhengHei"/>
              </a:rPr>
              <a:t>依據：</a:t>
            </a:r>
            <a:r>
              <a:rPr sz="950" b="0" i="1">
                <a:solidFill>
                  <a:srgbClr val="555B63"/>
                </a:solidFill>
                <a:latin typeface="Segoe UI"/>
              </a:rPr>
              <a:t>導讀論文 benchmark 段(4D_evidence_reward_deep.pptx)· VLM4D 2508.02095 · Spatial4D 2601.00092 · DSI 2510.18873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555B63"/>
                </a:solidFill>
                <a:latin typeface="Segoe UI"/>
              </a:rPr>
              <a:t>8/10 · 草稿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0F768E"/>
                </a:solidFill>
                <a:latin typeface="Segoe UI"/>
              </a:rPr>
              <a:t>Q8b　</a:t>
            </a:r>
            <a:r>
              <a:rPr sz="1250" b="0" i="0">
                <a:solidFill>
                  <a:srgbClr val="555B63"/>
                </a:solidFill>
                <a:latin typeface="Microsoft JhengHei"/>
              </a:rPr>
              <a:t>補充:這些 benchmark 的題目長什麼樣?(題型 + 範例)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04672"/>
            <a:ext cx="10881360" cy="1463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1" i="0">
                <a:solidFill>
                  <a:srgbClr val="111111"/>
                </a:solidFill>
                <a:latin typeface="Microsoft JhengHei"/>
              </a:rPr>
              <a:t>兩種答案格式:選擇題(MCA)與數值題(NA,相對準確率計分)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61264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555B63"/>
                </a:solidFill>
                <a:latin typeface="Segoe UI"/>
              </a:rPr>
              <a:t>— </a:t>
            </a:r>
            <a:r>
              <a:rPr sz="1250" b="1" i="0">
                <a:solidFill>
                  <a:srgbClr val="111111"/>
                </a:solidFill>
                <a:latin typeface="Microsoft JhengHei"/>
              </a:rPr>
              <a:t>VLM4D — 選擇題:</a:t>
            </a:r>
            <a:r>
              <a:rPr sz="1250" b="0" i="0">
                <a:solidFill>
                  <a:srgbClr val="111111"/>
                </a:solidFill>
                <a:latin typeface="Microsoft JhengHei"/>
              </a:rPr>
              <a:t>「From the camera's perspective, which direction is the car moving?  (A) left  (B) right  (C) toward  (D) away」→ 正解 (B);右圖為論文 teaser:人類秒答 right,模型答 left。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555B63"/>
                </a:solidFill>
                <a:latin typeface="Segoe UI"/>
              </a:rPr>
              <a:t>— </a:t>
            </a:r>
            <a:r>
              <a:rPr sz="1250" b="1" i="0">
                <a:solidFill>
                  <a:srgbClr val="111111"/>
                </a:solidFill>
                <a:latin typeface="Microsoft JhengHei"/>
              </a:rPr>
              <a:t>VSI-Bench — 兩型:</a:t>
            </a:r>
            <a:r>
              <a:rPr sz="1250" b="0" i="0">
                <a:solidFill>
                  <a:srgbClr val="111111"/>
                </a:solidFill>
                <a:latin typeface="Microsoft JhengHei"/>
              </a:rPr>
              <a:t>MCA 選擇題(相對方向/路線規劃/出現順序)+ NA 數值題(「How many chairs?」「兩物距離幾公尺?」)— 數值題以相對準確率(MRA)計分,不是全對全錯。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555B63"/>
                </a:solidFill>
                <a:latin typeface="Segoe UI"/>
              </a:rPr>
              <a:t>— </a:t>
            </a:r>
            <a:r>
              <a:rPr sz="1250" b="1" i="0">
                <a:solidFill>
                  <a:srgbClr val="111111"/>
                </a:solidFill>
                <a:latin typeface="Microsoft JhengHei"/>
              </a:rPr>
              <a:t>STI-Bench — 定量選擇題:</a:t>
            </a:r>
            <a:r>
              <a:rPr sz="1250" b="0" i="0">
                <a:solidFill>
                  <a:srgbClr val="111111"/>
                </a:solidFill>
                <a:latin typeface="Microsoft JhengHei"/>
              </a:rPr>
              <a:t>「物體位移多少公尺 / 速度多少 m/s / 尺寸多大」,選項為數值區間 → 逼模型做度量級估計,不能靠語意矇。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555B63"/>
                </a:solidFill>
                <a:latin typeface="Segoe UI"/>
              </a:rPr>
              <a:t>— </a:t>
            </a:r>
            <a:r>
              <a:rPr sz="1250" b="1" i="0">
                <a:solidFill>
                  <a:srgbClr val="111111"/>
                </a:solidFill>
                <a:latin typeface="Microsoft JhengHei"/>
              </a:rPr>
              <a:t>R4D/VSTI — 混合:</a:t>
            </a:r>
            <a:r>
              <a:rPr sz="1250" b="0" i="0">
                <a:solidFill>
                  <a:srgbClr val="111111"/>
                </a:solidFill>
                <a:latin typeface="Microsoft JhengHei"/>
              </a:rPr>
              <a:t>多選 + 數值題(相對準確率);R4D 另加 region 提示(框住問的物體)。</a:t>
            </a:r>
          </a:p>
        </p:txBody>
      </p:sp>
      <p:pic>
        <p:nvPicPr>
          <p:cNvPr id="7" name="Picture 6" descr="VLM4D_x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2455668"/>
            <a:ext cx="4480560" cy="249530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40880" y="4978403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1">
                <a:solidFill>
                  <a:srgbClr val="555B63"/>
                </a:solidFill>
                <a:latin typeface="Microsoft JhengHei"/>
              </a:rPr>
              <a:t>VLM4D teaser:車往右移,模型答「left」(取自 arXiv 2508.02095 原圖)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06440"/>
            <a:ext cx="108813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B44A1E"/>
                </a:solidFill>
                <a:latin typeface="Microsoft JhengHei"/>
              </a:rPr>
              <a:t>未驗證：</a:t>
            </a:r>
            <a:r>
              <a:rPr sz="1150" b="0" i="0">
                <a:solidFill>
                  <a:srgbClr val="111111"/>
                </a:solidFill>
                <a:latin typeface="Microsoft JhengHei"/>
              </a:rPr>
              <a:t>除 VLM4D 圖為原文外,其餘題目文字為依各論文題型描述改寫的示意,非原題;報告前建議各抓 1 題原題替換(VSI/STI 官網或論文附錄)。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550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 i="0">
                <a:solidFill>
                  <a:srgbClr val="555B63"/>
                </a:solidFill>
                <a:latin typeface="Microsoft JhengHei"/>
              </a:rPr>
              <a:t>依據：</a:t>
            </a:r>
            <a:r>
              <a:rPr sz="950" b="0" i="1">
                <a:solidFill>
                  <a:srgbClr val="555B63"/>
                </a:solidFill>
                <a:latin typeface="Segoe UI"/>
              </a:rPr>
              <a:t>VLM4D 2508.02095(MCQ)· VSI-Bench(MCA+NA/MRA)· STI-Bench(定量 MCQ)· 4D-RGPT(R4D 多選+數值)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555B63"/>
                </a:solidFill>
                <a:latin typeface="Segoe UI"/>
              </a:rPr>
              <a:t>9/10 · 草稿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0F768E"/>
                </a:solidFill>
                <a:latin typeface="Segoe UI"/>
              </a:rPr>
              <a:t>Q9　</a:t>
            </a:r>
            <a:r>
              <a:rPr sz="1250" b="0" i="0">
                <a:solidFill>
                  <a:srgbClr val="555B63"/>
                </a:solidFill>
                <a:latin typeface="Microsoft JhengHei"/>
              </a:rPr>
              <a:t>skill 憲法第 4 條:這些問題 Claude 回答不了,由你回答。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04672"/>
            <a:ext cx="10881360" cy="1463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1" i="0">
                <a:solidFill>
                  <a:srgbClr val="111111"/>
                </a:solidFill>
                <a:latin typeface="Microsoft JhengHei"/>
              </a:rPr>
              <a:t>這些只有你能回答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555B63"/>
                </a:solidFill>
                <a:latin typeface="Segoe UI"/>
              </a:rPr>
              <a:t>— </a:t>
            </a:r>
            <a:r>
              <a:rPr sz="1500" b="1" i="0">
                <a:solidFill>
                  <a:srgbClr val="111111"/>
                </a:solidFill>
                <a:latin typeface="Microsoft JhengHei"/>
              </a:rPr>
              <a:t>1. 根因你賭哪邊:4D 差是「看得到沒用上」還是「根本沒看到」?你的證據?(meeting 必問)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555B63"/>
                </a:solidFill>
                <a:latin typeface="Segoe UI"/>
              </a:rPr>
              <a:t>— </a:t>
            </a:r>
            <a:r>
              <a:rPr sz="1500" b="0" i="0">
                <a:solidFill>
                  <a:srgbClr val="111111"/>
                </a:solidFill>
                <a:latin typeface="Microsoft JhengHei"/>
              </a:rPr>
              <a:t>2. 偽標錯誤=reward 錯誤(蒸餾天花板):過濾低信心區域?混 GT?你的設計決策。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555B63"/>
                </a:solidFill>
                <a:latin typeface="Segoe UI"/>
              </a:rPr>
              <a:t>— </a:t>
            </a:r>
            <a:r>
              <a:rPr sz="1500" b="0" i="0">
                <a:solidFill>
                  <a:srgbClr val="111111"/>
                </a:solidFill>
                <a:latin typeface="Microsoft JhengHei"/>
              </a:rPr>
              <a:t>3. flow-consistency reward 怎麼被 hack?想一個具體情境,再想怎麼防。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555B63"/>
                </a:solidFill>
                <a:latin typeface="Segoe UI"/>
              </a:rPr>
              <a:t>— </a:t>
            </a:r>
            <a:r>
              <a:rPr sz="1500" b="0" i="0">
                <a:solidFill>
                  <a:srgbClr val="111111"/>
                </a:solidFill>
                <a:latin typeface="Microsoft JhengHei"/>
              </a:rPr>
              <a:t>4. 第一版訊號:2D flow(成熟)還是 scene flow(貼 4D)?跟你的時程綁定。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555B63"/>
                </a:solidFill>
                <a:latin typeface="Segoe UI"/>
              </a:rPr>
              <a:t>— </a:t>
            </a:r>
            <a:r>
              <a:rPr sz="1500" b="0" i="0">
                <a:solidFill>
                  <a:srgbClr val="111111"/>
                </a:solidFill>
                <a:latin typeface="Microsoft JhengHei"/>
              </a:rPr>
              <a:t>5. 讀完 4D-RGPT(在你的 papers/ 裡)後:它跟我們的差異,一句話講出來。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555B63"/>
                </a:solidFill>
                <a:latin typeface="Segoe UI"/>
              </a:rPr>
              <a:t>— </a:t>
            </a:r>
            <a:r>
              <a:rPr sz="1500" b="1" i="0">
                <a:solidFill>
                  <a:srgbClr val="111111"/>
                </a:solidFill>
                <a:latin typeface="Microsoft JhengHei"/>
              </a:rPr>
              <a:t>6. 一句話賣點,自己重寫(P7 的只是靶子)。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B44A1E"/>
                </a:solidFill>
                <a:latin typeface="Microsoft JhengHei"/>
              </a:rPr>
              <a:t>聲明:本簡報為分析草稿。任何要放進正式簡報/報告的文字,須由報告者自己重寫——重寫即消化。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555B63"/>
                </a:solidFill>
                <a:latin typeface="Segoe UI"/>
              </a:rPr>
              <a:t>10/10 · 草稿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