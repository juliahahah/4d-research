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fig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6" Type="http://schemas.openxmlformats.org/officeDocument/2006/relationships/image" Target="../media/image-12-fig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-13-fig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6" Type="http://schemas.openxmlformats.org/officeDocument/2006/relationships/image" Target="../media/image-14-fig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 5 · 老師方向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 / RLVR ＋ Depth/Flow 4D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證據完整性 Reward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九篇相關研究的定位地圖 — 依 4D-VLM 分類法（方法 / 架構 / Task / Benchmark）盤點與比較，並附各論文原始架構圖出處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50292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篇論文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0896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研究單位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77840" y="5029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頂會發表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核心定位：你的方法在做什麼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RL reward 直接獎勵「答案與 4D 幾何/運動證據的一致性」，而非只靠 RGB 或正確性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749808" cy="74980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/home/claude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18541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077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Method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/ RLVR 強化學習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reward 塑形推理過程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011680"/>
            <a:ext cx="749808" cy="74980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/home/claude/icons/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18541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9077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 Architecture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depth + flow 連續 4D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幾何/運動場作為證據來源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011680"/>
            <a:ext cx="749808" cy="74980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6" name="Image 2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218541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9077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訊號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964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證據完整性：重答一致性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4D 證據 grounded 推理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2062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0120" y="4407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與多數研究的關鍵差異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6012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多數 RL 影片推理：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RGB bbox / timestamp / 正確性 / 時序 為 reward。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本方向：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以連續的 depth/flow 4D 場作為證據，獎勵推理與幾何運動的一致性。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本方向架構示意：4D 證據完整性 Reward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此為針對本研究方向繪製的示意流程（非任一論文原圖）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5" name="Image 0" descr="/home/claude/icons/ey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4767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90195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影片輸入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42032" y="2263140"/>
            <a:ext cx="310896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80360" y="178308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10" name="Image 1" descr="/home/claude/icons/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9476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0712" y="19019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凍結 4D 專家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17520" y="22860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flow 場萃取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56632" y="2263140"/>
            <a:ext cx="310896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94960" y="178308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15" name="Image 2" descr="/home/claude/icons/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4767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25312" y="19019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MLLM 推理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532120" y="22860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CoT 答案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571232" y="2263140"/>
            <a:ext cx="310896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18120" y="17830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20" name="Image 3" descr="/home/claude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4767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48472" y="1901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證據一致性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955280" y="2286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重答對照 4D 場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948672" y="2263140"/>
            <a:ext cx="256032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10241280" y="17830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25" name="Image 4" descr="/home/claude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194767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71632" y="190195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0378440" y="22860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GRPO 更新</a:t>
            </a:r>
            <a:endParaRPr lang="en-US" sz="1050" dirty="0"/>
          </a:p>
        </p:txBody>
      </p:sp>
      <p:pic>
        <p:nvPicPr>
          <p:cNvPr id="28" name="Image 5" descr="/home/claude/icons/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76148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47872" y="27614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depth＝場景幾何 · flow＝像素運動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10991088" y="2743200"/>
            <a:ext cx="0" cy="91440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464808" y="3657600"/>
            <a:ext cx="4526280" cy="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464808" y="2743200"/>
            <a:ext cx="0" cy="91440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3" name="Text 25"/>
          <p:cNvSpPr/>
          <p:nvPr/>
        </p:nvSpPr>
        <p:spPr>
          <a:xfrm>
            <a:off x="6675120" y="3456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policy update （策略更新回饋）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證據來源光譜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40080" y="452628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96112" y="4782312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7" name="Text 29"/>
          <p:cNvSpPr/>
          <p:nvPr/>
        </p:nvSpPr>
        <p:spPr>
          <a:xfrm>
            <a:off x="1298448" y="4727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bbox / timestamp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96112" y="5093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多數 RL 方法（離散標註）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389120" y="452628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645152" y="4782312"/>
            <a:ext cx="256032" cy="25603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1" name="Text 33"/>
          <p:cNvSpPr/>
          <p:nvPr/>
        </p:nvSpPr>
        <p:spPr>
          <a:xfrm>
            <a:off x="5047488" y="4727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幾何場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4645152" y="5093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本方向（連續 4D）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138160" y="452628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394192" y="4782312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37"/>
          <p:cNvSpPr/>
          <p:nvPr/>
        </p:nvSpPr>
        <p:spPr>
          <a:xfrm>
            <a:off x="8796528" y="4727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運動場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8394192" y="5093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本方向（連續 4D）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盤點框架：4D-VLM 分類法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每篇論文沿四個維度分類，方便與本方向對齊比較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110996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/home/claude/icons/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842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647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Method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97680" y="1764792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蒸餾 · SFT 冷啟動 · RL（GRPO/RLVR/RFT）· 純架構設計 · 診斷分析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79192"/>
            <a:ext cx="11109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907792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/home/claude/icons/sitemap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01752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79806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 Architecture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97680" y="2798064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MLLM · 是否引入額外幾何模態（depth/flow）· 關係圖 / visual prompting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12464"/>
            <a:ext cx="1110996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3941064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6" name="Image 2" descr="/home/claude/icons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507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3133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297680" y="3831336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 video 推理 · 時序定位 · 追蹤 · 時空定位 STVG · 4D VQA · 感知診斷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745736"/>
            <a:ext cx="11109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974336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1" name="Image 3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08406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86460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297680" y="486460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使用既有（VSI / STI / V-STAR）· 自建（R4D-Bench / STGR / STV / MoCentric）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— When Thinking Drifts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 · UT Austin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2510.06077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135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261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貼上原始架構圖
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 Figure 2（方法框架）  ·  arXiv 2510.06077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Evidence Reward 框架圖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 CoT 的 visual thinking drift（脫離畫面幻覺），提出 Visual Evidence Reward，只獎勵可被視覺證據 grounded 的推理；於 10 個 benchmark 達 SOTA。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同動機（對抗幻覺、強調證據），但驗證的是 RGB 證據，並非 depth/flow 4D 幾何或運動。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16311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1631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RLVR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49717" y="50749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49717" y="507492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CoT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0142525" y="5074920"/>
            <a:ext cx="866851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142525" y="5074920"/>
            <a:ext cx="86685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證據＝RGB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5577840"/>
            <a:ext cx="195315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5577840"/>
            <a:ext cx="19531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benchmark SOTA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https://arxiv.org/pdf/2510.06077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4D-RGPT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2026 Highlight · NVIDIA Research Taiwan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2512.17012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135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261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貼上原始架構圖
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 Figure 2（P4D 蒸餾框架）  ·  arXiv 2512.17012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P4D 感知蒸餾架構圖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P4D 感知蒸餾，把凍結 expert 的 depth/flow 4D 表徵蒸餾進 MLLM，並建立 R4D-Bench；為純監督、無 RL。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同樣用 depth+flow，但採「蒸餾」而非 RL reward；是唯一有公開 code 的正面對手。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36062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3606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蒸餾（非 RL）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447227" y="5074920"/>
            <a:ext cx="2150669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47227" y="5074920"/>
            <a:ext cx="215066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region-level 4D VQA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9440" y="5577840"/>
            <a:ext cx="116311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49440" y="5577840"/>
            <a:ext cx="11631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R4D-Bench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249717" y="5577840"/>
            <a:ext cx="106436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49717" y="5577840"/>
            <a:ext cx="10643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唯一有 code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https://arxiv.org/pdf/2512.17012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Video-R1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 · 港中文 CUHK MMLab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2503.21776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135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261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貼上原始架構圖
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 Figure 3（T-GRPO 機制）  ·  arXiv 2503.21776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T-GRPO 對比式 reward 示意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首個系統性把 R1/RL 引入 video reasoning，提出 T-GRPO 鼓勵時序推理並混合圖像資料，建 165k/260k 資料；7B 在 VSI-Bench 37.1% 勝 GPT-4o。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你的直接前身，但為純時間＋正確性 reward，無 depth/flow 幾何運動證據。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16311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1631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冷啟＋RL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49717" y="50749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49717" y="507492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T-GRPO（時序）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648749" y="5074920"/>
            <a:ext cx="145938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48749" y="5074920"/>
            <a:ext cx="14593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 depth/flow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55778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557784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VSI-Bench 37.1%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https://arxiv.org/pdf/2503.21776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VideoChat-R1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 · 上海 AI Lab / 南京大學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2504.06958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135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261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貼上原始架構圖
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 Figure 2（RFT 框架）  ·  arXiv 2504.06958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時空 rule-based RFT 框架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資料高效的 RFT，把時空 rule-based reward（尤其 temporal）聯合訓練進 video MLLM；temporal grounding +31.8、tracking +31.2。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task reward，無證據完整性、也無 depth/flow 幾何運動訊號。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06436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0643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RFT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50962" y="5074920"/>
            <a:ext cx="195315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50962" y="5074920"/>
            <a:ext cx="19531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reward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0241280" y="5074920"/>
            <a:ext cx="669341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41280" y="5074920"/>
            <a:ext cx="66934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資料高效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55778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557784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+31.8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https://arxiv.org/pdf/2504.06958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Open-o3-Video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2026 · 北京大學 PKU（+ByteDance）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2510.20579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135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261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貼上原始架構圖
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 Figure 3（方法總覽）  ·  arXiv 2510.20579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 cold-start RL 框架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證據為中心推理，明確標註 timestamp / 物件 / bbox 使推理可追溯；cold-start RL，reward 聯合答案＋時間對齊＋空間定位，建 STGR，V-STAR +14.4% mAM。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證據是 RGB bbox / timestamp，並非 depth/flow 重答一致性。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866851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86685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SFT＋RL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953451" y="50749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53451" y="507492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答案/時間/空間 reward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846259" y="507492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846259" y="5074920"/>
            <a:ext cx="9656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證據＝bbox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5577840"/>
            <a:ext cx="965606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5577840"/>
            <a:ext cx="9656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STGR 自建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https://arxiv.org/pdf/2510.20579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Perception-R1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· USTC 中國科大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2506.07218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11353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261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貼上原始架構圖
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 Figure 2（reward 設計）  ·  arXiv 2506.07218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Perception Reward 流程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 visual perception reward（從 CoT 抽視覺描述當參考、以 LLM judge 評一致）；用 McNemar 檢定證現有 RLVR 不提升感知，僅 1442 筆即 SOTA。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對齊的是文字化視覺標註，並非 depth/flow 重答一致性。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2446934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24469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perception reward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533534" y="5074920"/>
            <a:ext cx="116311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533534" y="5074920"/>
            <a:ext cx="11631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9440" y="5577840"/>
            <a:ext cx="136062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49440" y="5577840"/>
            <a:ext cx="13606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1442 筆 SOTA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447227" y="557784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447227" y="5577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診斷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https://arxiv.org/pdf/2506.07218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Video-STR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· ByteDance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2510.10976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00" y="2252995"/>
            <a:ext cx="5920000" cy="23740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GRPO 框架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graph-based GRPO 引導模型推斷時空拓撲（多物件佈局／運動），建立 205k STV 資料；STI-Bench +13%。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用關係圖 grounding，並非連續 depth/flow 場。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graph-GRPO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842248" y="5074920"/>
            <a:ext cx="145938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842248" y="5074920"/>
            <a:ext cx="14593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關係圖（非 field）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0438790" y="5074920"/>
            <a:ext cx="669341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438790" y="5074920"/>
            <a:ext cx="66934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時空拓撲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5577840"/>
            <a:ext cx="1360627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5577840"/>
            <a:ext cx="13606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 205k 自建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https://arxiv.org/pdf/2510.10976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STVG-R1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· 西安電子科大 / BIGAI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2602.11730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00" y="2574200"/>
            <a:ext cx="5920000" cy="173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prompting + task reward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首個 STVG 的 RL 框架，用 visual prompting（給物件時序一致的唯一 ID）避免座標幻覺，配合 task-driven reward；HCSTVG-v2 +21%。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做的是定位（STVG）而非 QA。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854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task-driven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941003" y="507492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941003" y="5074920"/>
            <a:ext cx="1854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prompting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0932566" y="5074920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932566" y="5074920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 ID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49440" y="5577840"/>
            <a:ext cx="1656893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49440" y="5577840"/>
            <a:ext cx="16568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HCSTVG-v2 +21%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https://arxiv.org/pdf/2602.11730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Flow4Agent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2025 · 北京大學（深圳）/ 鵬城實驗室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2510.05836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00" y="2111496"/>
            <a:ext cx="5920000" cy="26570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先驗 + token pruning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首度把 optical flow 運動先驗引入長影片理解，提 Temporal Granularity Optimization ＋ Motion Token Pruning；Video-MME 64.7%。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當作效率工具（token pruning），並非 RL 證據訊號。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架構設計（非 RL）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348472" y="50749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348472" y="507492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先驗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9440" y="5577840"/>
            <a:ext cx="155813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49440" y="5577840"/>
            <a:ext cx="15581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pruning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644738" y="55778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44738" y="557784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Video-MME 64.7%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https://arxiv.org/pdf/2510.05836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PixFoundation 2.0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2025 · Ontario Tech University  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2509.02807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035040" cy="4343400"/>
          </a:xfrm>
          <a:prstGeom prst="roundRect">
            <a:avLst>
              <a:gd name="adj" fmla="val 1263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pic>
        <p:nvPicPr>
          <p:cNvPr id="6" name="Image 0" descr="/home/claude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00" y="1967957"/>
            <a:ext cx="5920000" cy="29440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motion-centric probe 設計</a:t>
            </a:r>
            <a:endParaRPr lang="en-US" sz="1050" dirty="0"/>
          </a:p>
        </p:txBody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33488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貢獻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探究影片 MLLM 是否真用運動做像素 grounding，提出四種 motion-centric 探測法 ＋ MoCentric-Bench，發現單幀 baseline 就能匹敵舊方法。</a:t>
            </a:r>
            <a:endParaRPr lang="en-US" sz="1250" dirty="0"/>
          </a:p>
        </p:txBody>
      </p:sp>
      <p:pic>
        <p:nvPicPr>
          <p:cNvPr id="12" name="Image 2" descr="/home/claude/icons/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33488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本方向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949440" y="40050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支持「需要 4D 運動證據」的 motivation（佐證非對手）。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49440" y="5074920"/>
            <a:ext cx="1656893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949440" y="5074920"/>
            <a:ext cx="16568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/ 診斷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743493" y="50749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743493" y="507492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 motion probe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9440" y="557784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49440" y="557784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MoCentric-Bench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42248" y="5577840"/>
            <a:ext cx="669341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842248" y="5577840"/>
            <a:ext cx="66934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支持動機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圖片來源： https://arxiv.org/pdf/2509.02807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影片推理家族一覽（★★）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你的直接前身與旁支：皆用 RL，但 reward 與證據來源各異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063240"/>
                <a:gridCol w="237744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論文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單位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方法 / Reward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證據來源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代表結果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</a:rPr>
                        <a:t>Video-R1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CUHK MMLab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SFT冷啟＋T-GRPO（時序）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</a:rPr>
                        <a:t>無 depth/flow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VSI-Bench 37.1%&gt;GPT-4o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</a:rPr>
                        <a:t>VideoChat-R1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上海AI Lab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RFT rule-based（時空）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</a:rPr>
                        <a:t>無證據完整性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grounding +31.8 / track +31.2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</a:rPr>
                        <a:t>Open-o3-Video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PKU＋ByteDance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SFT＋RL 答案/時間/空間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</a:rPr>
                        <a:t>RGB bbox / timestamp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V-STAR +14.4% mAM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</a:rPr>
                        <a:t>Perception-R1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USTC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RL visual perception reward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</a:rPr>
                        <a:t>文字化視覺描述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1442 筆即 SOTA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</a:rPr>
                        <a:t>Video-STR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ByteDance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graph-based GRPO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</a:rPr>
                        <a:t>關係圖（非 field）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</a:rPr>
                        <a:t>STI-Bench +13%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94960"/>
            <a:ext cx="11109960" cy="822960"/>
          </a:xfrm>
          <a:prstGeom prst="roundRect">
            <a:avLst>
              <a:gd name="adj" fmla="val 7778"/>
            </a:avLst>
          </a:prstGeom>
          <a:solidFill>
            <a:srgbClr val="CCFBF1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6235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54406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共通差距：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整個家族都以時序 / 正確性 / RGB 定位為 reward，沒有一篇用連續 depth/flow 4D 證據做重答一致性 —— 正是本方向的切入點。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定位總結：本方向的獨特交集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在整個 4D-VLM 版圖中，尚無人同時佔據的位置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01952"/>
            <a:ext cx="512064" cy="512064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/home/claude/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29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而非蒸餾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12080" y="1783080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4D-RGPT 有 depth/flow 卻是純監督蒸餾；本方向用 GRPO reward 學習。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044952"/>
            <a:ext cx="512064" cy="512064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/home/claude/icons/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1729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92608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 4D 場而非離散標註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212080" y="2926080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Open-o3 / Video-STR 的證據是 bbox / timestamp / 關係圖；本方向用連續 depth/flow。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87952"/>
            <a:ext cx="512064" cy="512064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6" name="Image 2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3159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6908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證據完整性 reward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212080" y="4069080"/>
            <a:ext cx="6309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僅驗 RGB grounding；本方向獎勵重答與 4D 幾何/運動的一致性。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25780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525780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空白處＝機會： </a:t>
            </a:r>
            <a:pPr algn="ctr" indent="0" marL="0">
              <a:buNone/>
            </a:pPr>
            <a:r>
              <a:rPr lang="en-US" sz="15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× 連續 4D 證據 × 一致性 reward，目前無人同時佔據。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方向 5：4D 證據完整性 Reward 研究地圖</dc:title>
  <dc:subject>PptxGenJS Presentation</dc:subject>
  <dc:creator>Research Brief</dc:creator>
  <cp:lastModifiedBy>Research Brief</cp:lastModifiedBy>
  <cp:revision>1</cp:revision>
  <dcterms:created xsi:type="dcterms:W3CDTF">2026-07-04T09:44:45Z</dcterms:created>
  <dcterms:modified xsi:type="dcterms:W3CDTF">2026-07-04T09:44:45Z</dcterms:modified>
</cp:coreProperties>
</file>