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標題頁即點出問題(36分差)與一句話作法。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標題即結論(36分差、瓶頸在看不清)。底部結論帶收束：問題偏感知端→值得用4D證據介入。數字出自VLM4D。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標題=結論。左右卡對比兩種瓶頸。結論帶：4D任務感知不足是主因，正當化用4D證據當reward。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標題=結論(兩句對比)。撞題檢查已做：VGGRPO屬生成、Video-R2用時間戳，皆非flow-consistency推理reward。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這頁直接回答『各 paper 怎麼獎』。逐列講：MoCA 用感知充分性+四象限；Smooth Operator 用連續Sigmoid;3D-R1 三合一reward;PRM 過程獎;Video-R2 時間戳;VGGRPO 幾何(生成)。最後★列=我們：組合①③、訊號換光流、偽標免GT。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一句話賣點 + 五格邏輯鏈；底部點名技術支柱與依據。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三句 vs X 收束新穎性；結論帶給一句總結。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完整參考文獻，依用途分五組，arXiv 編號可查證。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43400"/>
            <a:ext cx="12191695" cy="82296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F768E"/>
                </a:solidFill>
                <a:latin typeface="Segoe UI"/>
              </a:rPr>
              <a:t>REWARD WHAT THE MODEL SHOULD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 i="0">
                <a:solidFill>
                  <a:srgbClr val="FFFFFF"/>
                </a:solidFill>
                <a:latin typeface="Microsoft JhengHei"/>
              </a:rPr>
              <a:t>VLM 看不清 4D 世界——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 i="0">
                <a:solidFill>
                  <a:srgbClr val="0F768E"/>
                </a:solidFill>
                <a:latin typeface="Microsoft JhengHei"/>
              </a:rPr>
              <a:t>用「4D 證據一致性」當可驗證 Reward 來修補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C9D4DA"/>
                </a:solidFill>
                <a:latin typeface="Microsoft JhengHei"/>
              </a:rPr>
              <a:t>問題：VLM 在動態時空任務落後人類 36 分。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9FB2BC"/>
                </a:solidFill>
                <a:latin typeface="Microsoft JhengHei"/>
              </a:rPr>
              <a:t>作法：把運動證據(光流/scene-flow)從『壓縮 prior』升級為『GRPO 訓練訊號』。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7F8C99"/>
                </a:solidFill>
                <a:latin typeface="Segoe UI"/>
              </a:rPr>
              <a:t>Introduction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" cy="365760"/>
          </a:xfrm>
          <a:prstGeom prst="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86A33"/>
                </a:solidFill>
                <a:latin typeface="Microsoft JhengHei"/>
              </a:rPr>
              <a:t>問題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 i="0">
                <a:solidFill>
                  <a:srgbClr val="1A1A2E"/>
                </a:solidFill>
                <a:latin typeface="Microsoft JhengHei"/>
              </a:rPr>
              <a:t>VLM 在動態 4D 任務落後人類 36 分——瓶頸是「看不清」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4480560" cy="265176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4480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8800" b="1" i="0">
                <a:solidFill>
                  <a:srgbClr val="E86A33"/>
                </a:solidFill>
                <a:latin typeface="Segoe U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 i="0">
                <a:solidFill>
                  <a:srgbClr val="1A1A2E"/>
                </a:solidFill>
                <a:latin typeface="Microsoft JhengHei"/>
              </a:rPr>
              <a:t>分的差距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B6370"/>
                </a:solidFill>
                <a:latin typeface="Microsoft JhengHei"/>
              </a:rPr>
              <a:t>人類 98.8%  vs  最佳模型 62.0%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920240"/>
            <a:ext cx="6035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900" b="0" i="0">
                <a:solidFill>
                  <a:srgbClr val="1A1A2E"/>
                </a:solidFill>
                <a:latin typeface="Microsoft JhengHei"/>
              </a:rPr>
              <a:t>靜態影像／短片尚可，</a:t>
            </a:r>
            <a:r>
              <a:rPr sz="1900" b="1" i="0">
                <a:solidFill>
                  <a:srgbClr val="0F768E"/>
                </a:solidFill>
                <a:latin typeface="Microsoft JhengHei"/>
              </a:rPr>
              <a:t>動態時空事件大幅崩壞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700" b="0" i="0">
                <a:solidFill>
                  <a:srgbClr val="1A1A2E"/>
                </a:solidFill>
                <a:latin typeface="Microsoft JhengHei"/>
              </a:rPr>
              <a:t>弱在「整合多重視覺線索 + 維持時間一致性」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700" b="0" i="0">
                <a:solidFill>
                  <a:srgbClr val="1A1A2E"/>
                </a:solidFill>
                <a:latin typeface="Microsoft JhengHei"/>
              </a:rPr>
              <a:t>現有 VLM 多靠「聚合 2D 特徵跨時間」，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700" b="1" i="0">
                <a:solidFill>
                  <a:srgbClr val="E86A33"/>
                </a:solidFill>
                <a:latin typeface="Microsoft JhengHei"/>
              </a:rPr>
              <a:t>缺乏真正的運動 / 深度理解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10881360" cy="749808"/>
          </a:xfrm>
          <a:prstGeom prst="roundRect">
            <a:avLst/>
          </a:prstGeom>
          <a:solidFill>
            <a:srgbClr val="EC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212080"/>
            <a:ext cx="146304" cy="749808"/>
          </a:xfrm>
          <a:prstGeom prst="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5385816"/>
            <a:ext cx="960120" cy="402336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85816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結論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212080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2E"/>
                </a:solidFill>
                <a:latin typeface="Microsoft JhengHei"/>
              </a:rPr>
              <a:t>問題真實存在，且偏「感知端」——</a:t>
            </a:r>
            <a:r>
              <a:rPr sz="1500" b="0" i="0">
                <a:solidFill>
                  <a:srgbClr val="1A1A2E"/>
                </a:solidFill>
                <a:latin typeface="Microsoft JhengHei"/>
              </a:rPr>
              <a:t>值得用 4D 證據(深度/光流)直接介入。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▸ 依據：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VLM4D (arXiv 2508.02095, ICCV 2025) — 人類 98.8% vs Gemini-2.5-Pro 62.0%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37376"/>
            <a:ext cx="14630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4D Evidence Reward ·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F768E"/>
                </a:solidFill>
                <a:latin typeface="Microsoft JhengHei"/>
              </a:rPr>
              <a:t>診斷 ·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 i="0">
                <a:solidFill>
                  <a:srgbClr val="1A1A2E"/>
                </a:solidFill>
                <a:latin typeface="Microsoft JhengHei"/>
              </a:rPr>
              <a:t>根因依任務而異：4D 任務卡在「感知不足」，不是「推理不會」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257800" cy="233172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257800" cy="109728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70916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 i="0">
                <a:solidFill>
                  <a:srgbClr val="1A1A2E"/>
                </a:solidFill>
                <a:latin typeface="Microsoft JhengHei"/>
              </a:rPr>
              <a:t>數學 / 邏輯題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5B6370"/>
                </a:solidFill>
                <a:latin typeface="Microsoft JhengHei"/>
              </a:rPr>
              <a:t>→ 偏「推理未發揮」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B6370"/>
                </a:solidFill>
                <a:latin typeface="Microsoft JhengHei"/>
              </a:rPr>
              <a:t>LLM 有能力卻靠文字捷徑；瓶頸在推理鏈深度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257800" cy="2331720"/>
          </a:xfrm>
          <a:prstGeom prst="roundRect">
            <a:avLst/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74519"/>
            <a:ext cx="5257800" cy="109728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67127"/>
            <a:ext cx="470916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 i="0">
                <a:solidFill>
                  <a:srgbClr val="0F768E"/>
                </a:solidFill>
                <a:latin typeface="Microsoft JhengHei"/>
              </a:rPr>
              <a:t>4D / 時空題  ← 我們的戰場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0F768E"/>
                </a:solidFill>
                <a:latin typeface="Microsoft JhengHei"/>
              </a:rPr>
              <a:t>→ 偏「感知不足」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A1A2E"/>
                </a:solidFill>
                <a:latin typeface="Microsoft JhengHei"/>
              </a:rPr>
              <a:t>看不清運動與深度：整合線索、維持時間一致性做不到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1A2E"/>
                </a:solidFill>
                <a:latin typeface="Microsoft JhengHei"/>
              </a:rPr>
              <a:t>方法論可借鏡 MoCA：先歸因「壞在看 vs 壞在想」，再對症下 reward。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12080"/>
            <a:ext cx="10881360" cy="749808"/>
          </a:xfrm>
          <a:prstGeom prst="roundRect">
            <a:avLst/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212080"/>
            <a:ext cx="146304" cy="749808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5385816"/>
            <a:ext cx="960120" cy="402336"/>
          </a:xfrm>
          <a:prstGeom prst="round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85816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結論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212080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2E"/>
                </a:solidFill>
                <a:latin typeface="Microsoft JhengHei"/>
              </a:rPr>
              <a:t>對 4D 任務，感知不足是主因 → </a:t>
            </a:r>
            <a:r>
              <a:rPr sz="1500" b="0" i="0">
                <a:solidFill>
                  <a:srgbClr val="1A1A2E"/>
                </a:solidFill>
                <a:latin typeface="Microsoft JhengHei"/>
              </a:rPr>
              <a:t>正當化「用 depth/flow 一致性當 reward 訊號」。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▸ 依據：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推理瓶頸: CrossMath (2604.16256) · 感知瓶頸: VLM4D (2508.02095) · 歸因法: MoCA (2605.14054)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37376"/>
            <a:ext cx="14630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4D Evidence Reward ·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" cy="365760"/>
          </a:xfrm>
          <a:prstGeom prst="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86A33"/>
                </a:solidFill>
                <a:latin typeface="Microsoft JhengHei"/>
              </a:rPr>
              <a:t>縫隙 ·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 i="0">
                <a:solidFill>
                  <a:srgbClr val="1A1A2E"/>
                </a:solidFill>
                <a:latin typeface="Microsoft JhengHei"/>
              </a:rPr>
              <a:t>Depth reward 已擁擠；</a:t>
            </a:r>
            <a:r>
              <a:rPr sz="2700" b="1" i="0">
                <a:solidFill>
                  <a:srgbClr val="E86A33"/>
                </a:solidFill>
                <a:latin typeface="Microsoft JhengHei"/>
              </a:rPr>
              <a:t>Flow-consistency reward 仍是空白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A1A2E"/>
                </a:solidFill>
                <a:latin typeface="Microsoft JhengHei"/>
              </a:rPr>
              <a:t>深度當 reward</a:t>
            </a:r>
            <a:r>
              <a:rPr sz="1300" b="0" i="0">
                <a:solidFill>
                  <a:srgbClr val="5B6370"/>
                </a:solidFill>
                <a:latin typeface="Microsoft JhengHei"/>
              </a:rPr>
              <a:t>   已有眾多工作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10607040" cy="566928"/>
          </a:xfrm>
          <a:prstGeom prst="roundRect">
            <a:avLst/>
          </a:prstGeom>
          <a:solidFill>
            <a:srgbClr val="D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2E"/>
                </a:solidFill>
                <a:latin typeface="Segoe UI"/>
              </a:rPr>
              <a:t>DepthLM · Smooth Operator/AP-GRPO (2601.07695) · 3D-R1 (2507.23478) · MetaSpatial · N3D-VLM (2512.16561)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86A33"/>
                </a:solidFill>
                <a:latin typeface="Microsoft JhengHei"/>
              </a:rPr>
              <a:t>光流 / scene-flow 一致性當「推理」reward</a:t>
            </a:r>
            <a:r>
              <a:rPr sz="1300" b="1" i="0">
                <a:solidFill>
                  <a:srgbClr val="E86A33"/>
                </a:solidFill>
                <a:latin typeface="Microsoft JhengHei"/>
              </a:rPr>
              <a:t>   ← 幾乎空白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1143000" cy="566928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657600"/>
            <a:ext cx="822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86A33"/>
                </a:solidFill>
                <a:latin typeface="Microsoft JhengHei"/>
              </a:rPr>
              <a:t>→ 我們的主打新穎點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881360" cy="68580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A1A2E"/>
                </a:solidFill>
                <a:latin typeface="Microsoft JhengHei"/>
              </a:rPr>
              <a:t>Flow4Agent 只把光流當 training-free 壓縮 prior(選 frame、剪 token)，</a:t>
            </a:r>
            <a:r>
              <a:rPr sz="1400" b="1" i="0">
                <a:solidFill>
                  <a:srgbClr val="E86A33"/>
                </a:solidFill>
                <a:latin typeface="Microsoft JhengHei"/>
              </a:rPr>
              <a:t>沒當 reward。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881360" cy="749808"/>
          </a:xfrm>
          <a:prstGeom prst="roundRect">
            <a:avLst/>
          </a:prstGeom>
          <a:solidFill>
            <a:srgbClr val="EC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212080"/>
            <a:ext cx="146304" cy="749808"/>
          </a:xfrm>
          <a:prstGeom prst="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5385816"/>
            <a:ext cx="960120" cy="402336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85816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結論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212080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2E"/>
                </a:solidFill>
                <a:latin typeface="Microsoft JhengHei"/>
              </a:rPr>
              <a:t>把光流一致性當『推理 reward』沒人做 → </a:t>
            </a:r>
            <a:r>
              <a:rPr sz="1500" b="0" i="0">
                <a:solidFill>
                  <a:srgbClr val="1A1A2E"/>
                </a:solidFill>
                <a:latin typeface="Microsoft JhengHei"/>
              </a:rPr>
              <a:t>這是我們最大的新穎縫隙（已做撞題檢查）。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▸ 依據：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Flow4Agent (2510.05836) · 最近鄰(非撞題): VGGRPO 2603.26599[生成] · Video-R2 2511.23478[時間戳]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37376"/>
            <a:ext cx="14630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4D Evidence Reward ·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F768E"/>
                </a:solidFill>
                <a:latin typeface="Microsoft JhengHei"/>
              </a:rPr>
              <a:t>各 PAPER 怎麼設計 REWARD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1A1A2E"/>
                </a:solidFill>
                <a:latin typeface="Microsoft JhengHei"/>
              </a:rPr>
              <a:t>我們 = ①「分模態信用分配」 + ③「連續稠密 reward」，訊號換成光流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8813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017520"/>
                <a:gridCol w="4937760"/>
              </a:tblGrid>
              <a:tr h="40576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Paper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Reward 訊號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機制 / 公式</a:t>
                      </a:r>
                    </a:p>
                  </a:txBody>
                  <a:tcPr marL="76200" marR="76200" marT="25400" marB="25400" anchor="ctr">
                    <a:solidFill>
                      <a:srgbClr val="1A1A2E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768E"/>
                          </a:solidFill>
                          <a:latin typeface="Microsoft JhengHei"/>
                        </a:rPr>
                        <a:t>MoCA (2605.14054)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感知充分性 Rₚ + 結果 Rₒ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R = Rₒ + λ·Rₚ (λ=0.3)；四象限對感知 token ±0.2·|A|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768E"/>
                          </a:solidFill>
                          <a:latin typeface="Microsoft JhengHei"/>
                        </a:rPr>
                        <a:t>Smooth Operator (2601.07695)</a:t>
                      </a:r>
                    </a:p>
                  </a:txBody>
                  <a:tcPr marL="76200" marR="76200" marT="25400" marB="2540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3D 數值誤差</a:t>
                      </a:r>
                    </a:p>
                  </a:txBody>
                  <a:tcPr marL="76200" marR="76200" marT="25400" marB="2540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SNRA 動態 Sigmoid → 連續稠密；AP-GRPO 保留絕對梯度</a:t>
                      </a:r>
                    </a:p>
                  </a:txBody>
                  <a:tcPr marL="76200" marR="76200" marT="25400" marB="25400" anchor="ctr">
                    <a:solidFill>
                      <a:srgbClr val="F2F5F7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768E"/>
                          </a:solidFill>
                          <a:latin typeface="Microsoft JhengHei"/>
                        </a:rPr>
                        <a:t>3D-R1 (2507.23478)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format+perception+semantic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定位 reward；ScanQA CIDEr 97.95 → 106.45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768E"/>
                          </a:solidFill>
                          <a:latin typeface="Microsoft JhengHei"/>
                        </a:rPr>
                        <a:t>Perception-PRM (2604.24583)</a:t>
                      </a:r>
                    </a:p>
                  </a:txBody>
                  <a:tcPr marL="76200" marR="76200" marT="25400" marB="2540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過程步驟(中間)</a:t>
                      </a:r>
                    </a:p>
                  </a:txBody>
                  <a:tcPr marL="76200" marR="76200" marT="25400" marB="2540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PRM 監督中間步 + token 級 advantage 重分配</a:t>
                      </a:r>
                    </a:p>
                  </a:txBody>
                  <a:tcPr marL="76200" marR="76200" marT="25400" marB="25400" anchor="ctr">
                    <a:solidFill>
                      <a:srgbClr val="F2F5F7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768E"/>
                          </a:solidFill>
                          <a:latin typeface="Microsoft JhengHei"/>
                        </a:rPr>
                        <a:t>Video-R2 (2511.23478)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時間戳對齊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TAR + consistency gate（僅推理與答案一致時給獎）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768E"/>
                          </a:solidFill>
                          <a:latin typeface="Microsoft JhengHei"/>
                        </a:rPr>
                        <a:t>VGGRPO (2603.26599)</a:t>
                      </a:r>
                    </a:p>
                  </a:txBody>
                  <a:tcPr marL="76200" marR="76200" marT="25400" marB="2540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相機平滑 + 幾何重投影</a:t>
                      </a:r>
                    </a:p>
                  </a:txBody>
                  <a:tcPr marL="76200" marR="76200" marT="25400" marB="2540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Microsoft JhengHei"/>
                        </a:rPr>
                        <a:t>4D latent reward（影片生成，非推理）</a:t>
                      </a:r>
                    </a:p>
                  </a:txBody>
                  <a:tcPr marL="76200" marR="76200" marT="25400" marB="25400" anchor="ctr">
                    <a:solidFill>
                      <a:srgbClr val="F2F5F7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E7D5B"/>
                          </a:solidFill>
                          <a:latin typeface="Microsoft JhengHei"/>
                        </a:rPr>
                        <a:t>★ 我們 (Ours)</a:t>
                      </a:r>
                    </a:p>
                  </a:txBody>
                  <a:tcPr marL="76200" marR="76200" marT="25400" marB="25400" anchor="ctr">
                    <a:solidFill>
                      <a:srgbClr val="EF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Microsoft JhengHei"/>
                        </a:rPr>
                        <a:t>4D 證據(光流/scene-flow)一致性</a:t>
                      </a:r>
                    </a:p>
                  </a:txBody>
                  <a:tcPr marL="76200" marR="76200" marT="25400" marB="25400" anchor="ctr">
                    <a:solidFill>
                      <a:srgbClr val="EF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Microsoft JhengHei"/>
                        </a:rPr>
                        <a:t>連續 Rₚ(SNRA式) + MoCA 分模態；偽標免 GT</a:t>
                      </a:r>
                    </a:p>
                  </a:txBody>
                  <a:tcPr marL="76200" marR="76200" marT="25400" marB="25400" anchor="ctr"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212080"/>
            <a:ext cx="10881360" cy="749808"/>
          </a:xfrm>
          <a:prstGeom prst="roundRect">
            <a:avLst/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212080"/>
            <a:ext cx="146304" cy="749808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5385816"/>
            <a:ext cx="960120" cy="402336"/>
          </a:xfrm>
          <a:prstGeom prst="round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85816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結論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212080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2E"/>
                </a:solidFill>
                <a:latin typeface="Microsoft JhengHei"/>
              </a:rPr>
              <a:t>我們不重造 reward 演算法——</a:t>
            </a:r>
            <a:r>
              <a:rPr sz="1500" b="0" i="0">
                <a:solidFill>
                  <a:srgbClr val="1A1A2E"/>
                </a:solidFill>
                <a:latin typeface="Microsoft JhengHei"/>
              </a:rPr>
              <a:t>沿用①的分模態信用分配 + ③的連續稠密化，把獎勵訊號換成 4D 光流一致性。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▸ 依據：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各列 arXiv 編號如表；獎勵機制摘自各論文方法段。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37376"/>
            <a:ext cx="14630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4D Evidence Reward ·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F768E"/>
                </a:solidFill>
                <a:latin typeface="Microsoft JhengHei"/>
              </a:rPr>
              <a:t>我們的方法 · OUR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</a:rPr>
              <a:t>把「4D 證據一致性」當成連續、可自動驗證的 GRPO reward，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F768E"/>
                </a:solidFill>
                <a:latin typeface="Microsoft JhengHei"/>
              </a:rPr>
              <a:t>獎勵模型的時空推理與光流／scene-flow 證據一致。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1956816" cy="1783080"/>
          </a:xfrm>
          <a:prstGeom prst="round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971800"/>
            <a:ext cx="1956816" cy="45720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99232"/>
            <a:ext cx="195681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38728"/>
            <a:ext cx="1810512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5E2E8"/>
                </a:solidFill>
                <a:latin typeface="Microsoft JhengHei"/>
              </a:rPr>
              <a:t>4D 差 36 分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5E2E8"/>
                </a:solidFill>
                <a:latin typeface="Microsoft JhengHei"/>
              </a:rPr>
              <a:t>感知不足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3474720"/>
            <a:ext cx="365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0F768E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2971800"/>
            <a:ext cx="1956816" cy="1783080"/>
          </a:xfrm>
          <a:prstGeom prst="round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1216" y="2971800"/>
            <a:ext cx="1956816" cy="45720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1216" y="2999232"/>
            <a:ext cx="195681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洞察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538728"/>
            <a:ext cx="1810512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5E2E8"/>
                </a:solidFill>
                <a:latin typeface="Microsoft JhengHei"/>
              </a:rPr>
              <a:t>flow reward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5E2E8"/>
                </a:solidFill>
                <a:latin typeface="Microsoft JhengHei"/>
              </a:rPr>
              <a:t>是空白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3474720"/>
            <a:ext cx="365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0F768E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2971800"/>
            <a:ext cx="1956816" cy="1783080"/>
          </a:xfrm>
          <a:prstGeom prst="round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2352" y="2971800"/>
            <a:ext cx="1956816" cy="45720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2999232"/>
            <a:ext cx="195681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3538728"/>
            <a:ext cx="1810512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5E2E8"/>
                </a:solidFill>
                <a:latin typeface="Microsoft JhengHei"/>
              </a:rPr>
              <a:t>歸因+4D 判準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5E2E8"/>
                </a:solidFill>
                <a:latin typeface="Microsoft JhengHei"/>
              </a:rPr>
              <a:t>+連續 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474720"/>
            <a:ext cx="365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0F768E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2971800"/>
            <a:ext cx="1956816" cy="1783080"/>
          </a:xfrm>
          <a:prstGeom prst="round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3488" y="2971800"/>
            <a:ext cx="1956816" cy="45720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2999232"/>
            <a:ext cx="195681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可行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538728"/>
            <a:ext cx="1810512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5E2E8"/>
                </a:solidFill>
                <a:latin typeface="Microsoft JhengHei"/>
              </a:rPr>
              <a:t>偽標免 GT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5E2E8"/>
                </a:solidFill>
                <a:latin typeface="Microsoft JhengHei"/>
              </a:rPr>
              <a:t>可規模化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3474720"/>
            <a:ext cx="365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0F768E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64624" y="2971800"/>
            <a:ext cx="1956816" cy="1783080"/>
          </a:xfrm>
          <a:prstGeom prst="round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64624" y="2971800"/>
            <a:ext cx="1956816" cy="45720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64624" y="2999232"/>
            <a:ext cx="195681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驗證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3538728"/>
            <a:ext cx="1810512" cy="11247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5E2E8"/>
                </a:solidFill>
                <a:latin typeface="Microsoft JhengHei"/>
              </a:rPr>
              <a:t>Spring →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5E2E8"/>
                </a:solidFill>
                <a:latin typeface="Microsoft JhengHei"/>
              </a:rPr>
              <a:t>VLM4D/STI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技術支柱：</a:t>
            </a:r>
            <a:r>
              <a:rPr sz="1300" b="0" i="0">
                <a:solidFill>
                  <a:srgbClr val="AFC2CC"/>
                </a:solidFill>
                <a:latin typeface="Microsoft JhengHei"/>
              </a:rPr>
              <a:t>MoCA 分模態信用分配 (2605.14054) → 判準升級為「4D 證據一致性」；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FC2CC"/>
                </a:solidFill>
                <a:latin typeface="Segoe UI"/>
              </a:rPr>
              <a:t>連續 reward: Smooth Operator/AP-GRPO (2601.07695) · 偽標: Depth Anything V2 + FlowSeek (2509.05297) · RLVR: 2508.08189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37376"/>
            <a:ext cx="14630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4D Evidence Reward ·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F768E"/>
                </a:solidFill>
                <a:latin typeface="Microsoft JhengHei"/>
              </a:rPr>
              <a:t>貢獻與區隔 · WHY IT'S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1A1A2E"/>
                </a:solidFill>
                <a:latin typeface="Microsoft JhengHei"/>
              </a:rPr>
              <a:t>與最近鄰的三點區隔——審稿人會問的「這跟 X 有何不同？」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28016" cy="10515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768E"/>
                </a:solidFill>
                <a:latin typeface="Microsoft JhengHei"/>
              </a:rPr>
              <a:t>vs Flow4Agent  (2510.05836)　</a:t>
            </a:r>
            <a:r>
              <a:rPr sz="1500" b="0" i="0">
                <a:solidFill>
                  <a:srgbClr val="5B6370"/>
                </a:solidFill>
                <a:latin typeface="Microsoft JhengHei"/>
              </a:rPr>
              <a:t>光流當壓縮 prior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2E"/>
                </a:solidFill>
                <a:latin typeface="Microsoft JhengHei"/>
              </a:rPr>
              <a:t>→ 我們當訓練 reward，直接優化推理與運動證據一致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10128"/>
            <a:ext cx="128016" cy="10515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768E"/>
                </a:solidFill>
                <a:latin typeface="Microsoft JhengHei"/>
              </a:rPr>
              <a:t>vs MoCA  (2605.14054)　</a:t>
            </a:r>
            <a:r>
              <a:rPr sz="1500" b="0" i="0">
                <a:solidFill>
                  <a:srgbClr val="5B6370"/>
                </a:solidFill>
                <a:latin typeface="Microsoft JhengHei"/>
              </a:rPr>
              <a:t>感知判準 = 文字充分性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2E"/>
                </a:solidFill>
                <a:latin typeface="Microsoft JhengHei"/>
              </a:rPr>
              <a:t>→ 判準 = 4D 證據一致性，對動態任務更客觀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08576"/>
            <a:ext cx="128016" cy="10515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08576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768E"/>
                </a:solidFill>
                <a:latin typeface="Microsoft JhengHei"/>
              </a:rPr>
              <a:t>vs Smooth Operator (2601.07695) / VGGRPO (2603.26599)　</a:t>
            </a:r>
            <a:r>
              <a:rPr sz="1500" b="0" i="0">
                <a:solidFill>
                  <a:srgbClr val="5B6370"/>
                </a:solidFill>
                <a:latin typeface="Microsoft JhengHei"/>
              </a:rPr>
              <a:t>靜態深度 / 影片生成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2E"/>
                </a:solidFill>
                <a:latin typeface="Microsoft JhengHei"/>
              </a:rPr>
              <a:t>→ 動態運動訊號 + 服務於 VLM 推理（非生成）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12080"/>
            <a:ext cx="10881360" cy="749808"/>
          </a:xfrm>
          <a:prstGeom prst="roundRect">
            <a:avLst/>
          </a:prstGeom>
          <a:solidFill>
            <a:srgbClr val="EC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212080"/>
            <a:ext cx="146304" cy="7498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5385816"/>
            <a:ext cx="960120" cy="402336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85816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結論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212080"/>
            <a:ext cx="9326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1A2E"/>
                </a:solidFill>
                <a:latin typeface="Microsoft JhengHei"/>
              </a:rPr>
              <a:t>一句話：</a:t>
            </a:r>
            <a:r>
              <a:rPr sz="1500" b="0" i="0">
                <a:solidFill>
                  <a:srgbClr val="1A1A2E"/>
                </a:solidFill>
                <a:latin typeface="Microsoft JhengHei"/>
              </a:rPr>
              <a:t>首個把『運動證據一致性』做成 VLM 推理可驗證 reward 的工作。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37376"/>
            <a:ext cx="14630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4D Evidence Reward ·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F768E"/>
                </a:solidFill>
                <a:latin typeface="Microsoft JhengHei"/>
              </a:rPr>
              <a:t>參考文獻 ·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 i="0">
                <a:solidFill>
                  <a:srgbClr val="1A1A2E"/>
                </a:solidFill>
                <a:latin typeface="Microsoft JhengHe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問題 / 診斷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69164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1A2E"/>
                </a:solidFill>
                <a:latin typeface="Segoe UI"/>
              </a:rPr>
              <a:t>• VLM4D. arXiv 2508.02095 (ICCV 2025).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1A2E"/>
                </a:solidFill>
                <a:latin typeface="Segoe UI"/>
              </a:rPr>
              <a:t>• Do VLMs Truly Perform Vision Reasoning? (CrossMath). arXiv 2604.16256.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40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方法 / Reward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734056"/>
            <a:ext cx="8412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1A2E"/>
                </a:solidFill>
                <a:latin typeface="Segoe UI"/>
              </a:rPr>
              <a:t>• Bad Seeing or Bad Thinking? (MoCA). arXiv 2605.14054.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1A2E"/>
                </a:solidFill>
                <a:latin typeface="Segoe UI"/>
              </a:rPr>
              <a:t>• Smooth Operator (AP-GRPO). arXiv 2601.07695.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1A2E"/>
                </a:solidFill>
                <a:latin typeface="Segoe UI"/>
              </a:rPr>
              <a:t>• Perception-centric Process Reward Models. arXiv 2604.24583. · RLVR Survey 2508.08189.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422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Flow / 深度既有工作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142232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1A2E"/>
                </a:solidFill>
                <a:latin typeface="Segoe UI"/>
              </a:rPr>
              <a:t>• Flow4Agent. arXiv 2510.05836 (ICCV 2025).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1A2E"/>
                </a:solidFill>
                <a:latin typeface="Segoe UI"/>
              </a:rPr>
              <a:t>• DepthLM · 3D-R1 (2507.23478) · N3D-VLM (2512.16561) · MetaSpatial.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846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最近鄰(區隔對象)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184648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1A2E"/>
                </a:solidFill>
                <a:latin typeface="Segoe UI"/>
              </a:rPr>
              <a:t>• VGGRPO. arXiv 2603.26599.  ·  Video-R2 (TAR). arXiv 2511.23478.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6130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資料 / 偽標工具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861304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1A2E"/>
                </a:solidFill>
                <a:latin typeface="Segoe UI"/>
              </a:rPr>
              <a:t>• Depth Anything V2 (NeurIPS 2024) · FlowSeek 2509.05297.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1A2E"/>
                </a:solidFill>
                <a:latin typeface="Segoe UI"/>
              </a:rPr>
              <a:t>• ARKitScenes 2111.08897 · Spring · Virtual KITTI 2 · Dynamic Replica · VSI-Bench · STI-Bench.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37376"/>
            <a:ext cx="14630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4D Evidence Reward ·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