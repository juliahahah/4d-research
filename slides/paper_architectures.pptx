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講解重點：① VLM 交錯產生感知/推理塊 → 讓失敗定位透明。② 蒙眼推理器只看感知文字判斷『感知是否充分』得 Rₚ。③ 結合 Rₒ+λRₚ。④ 四象限信用分配：壞在想就保護感知 token、壞在看就加重罰。這就是我們要沿用的骨架 —— 我們把 Rₚ 的判準從『文字充分性』換成『4D 證據一致性』。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講解重點：Flow4Agent 是首個把光流用於 LLM 影片理解的工作，但它 training-free，光流只做 TGO(選幀)+MTP(剪 token)。關鍵一句：它沒把光流當 reward。→ 我們的縫隙：把 motion prior 從壓縮升級為訓練訊號。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講解重點：Smooth Operator 用 SNRA(動態 Sigmoid)把 near-miss 誤差轉成稠密連續 reward，並用 AP-GRPO 保留絕對數值梯度。這正好解我們連續 reward 的稀疏/不穩問題。我們把它的數值訊號從深度換成光流一致性。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講解重點：這是把前三張圖組起來的訓練迴路。① VLM 產生感知+推理；② 用基礎模型偽標 depth/flow 當 4D 證據；③ 一致性檢核產生連續 Rₚ(借 SNRA)；④ 加結果 Rₒ 後做 MoCA 式模態信用分配；⑤ GRPO 更新策略。每個組件都標了來源，新穎點在紅框：判準=4D 證據一致性且免 GT。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128016" cy="365760"/>
          </a:xfrm>
          <a:prstGeom prst="rect">
            <a:avLst/>
          </a:prstGeom>
          <a:solidFill>
            <a:srgbClr val="0F76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84632"/>
            <a:ext cx="1005840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F768E"/>
                </a:solidFill>
                <a:latin typeface="Microsoft JhengHei"/>
              </a:rPr>
              <a:t>架構 ① · 方法骨架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A1A2E"/>
                </a:solidFill>
                <a:latin typeface="Microsoft JhengHei"/>
              </a:rPr>
              <a:t>MoCA：先歸因「壞在看 vs 壞在想」，再分模態給 reward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2F5F7"/>
          </a:solidFill>
          <a:ln w="15875">
            <a:solidFill>
              <a:srgbClr val="5B63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1737360"/>
            <a:ext cx="1719072" cy="9144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A1A2E"/>
                </a:solidFill>
                <a:latin typeface="Microsoft JhengHei"/>
              </a:rPr>
              <a:t>輸入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5B6370"/>
                </a:solidFill>
                <a:latin typeface="Microsoft JhengHei"/>
              </a:rPr>
              <a:t>影像 V + 問題 Q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0" y="173736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EFF6F8"/>
          </a:solidFill>
          <a:ln w="15875">
            <a:solidFill>
              <a:srgbClr val="0F76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9504" y="1737360"/>
            <a:ext cx="1901952" cy="9144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A1A2E"/>
                </a:solidFill>
                <a:latin typeface="Microsoft JhengHei"/>
              </a:rPr>
              <a:t>VLM 策略 π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5B6370"/>
                </a:solidFill>
                <a:latin typeface="Microsoft JhengHei"/>
              </a:rPr>
              <a:t>交錯生成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0" y="1417320"/>
            <a:ext cx="2377440" cy="685800"/>
          </a:xfrm>
          <a:prstGeom prst="roundRect">
            <a:avLst>
              <a:gd name="adj" fmla="val 8000"/>
            </a:avLst>
          </a:prstGeom>
          <a:solidFill>
            <a:srgbClr val="FDECE2"/>
          </a:solidFill>
          <a:ln w="15875">
            <a:solidFill>
              <a:srgbClr val="E86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58384" y="1417320"/>
            <a:ext cx="2267712" cy="6858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A1A2E"/>
                </a:solidFill>
                <a:latin typeface="Microsoft JhengHei"/>
              </a:rPr>
              <a:t>⟨recognition⟩ 感知塊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5B6370"/>
                </a:solidFill>
                <a:latin typeface="Microsoft JhengHei"/>
              </a:rPr>
              <a:t>抽取視覺事實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0" y="2286000"/>
            <a:ext cx="2377440" cy="685800"/>
          </a:xfrm>
          <a:prstGeom prst="roundRect">
            <a:avLst>
              <a:gd name="adj" fmla="val 8000"/>
            </a:avLst>
          </a:prstGeom>
          <a:solidFill>
            <a:srgbClr val="F2F5F7"/>
          </a:solidFill>
          <a:ln w="15875">
            <a:solidFill>
              <a:srgbClr val="5B63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58384" y="2286000"/>
            <a:ext cx="2267712" cy="6858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A1A2E"/>
                </a:solidFill>
                <a:latin typeface="Microsoft JhengHei"/>
              </a:rPr>
              <a:t>⟨think⟩ 推理塊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5B6370"/>
                </a:solidFill>
                <a:latin typeface="Microsoft JhengHei"/>
              </a:rPr>
              <a:t>邏輯推導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468880" y="2194560"/>
            <a:ext cx="365760" cy="0"/>
          </a:xfrm>
          <a:prstGeom prst="line">
            <a:avLst/>
          </a:prstGeom>
          <a:ln w="22225">
            <a:solidFill>
              <a:srgbClr val="1A1A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4846320" y="1760220"/>
            <a:ext cx="457200" cy="434340"/>
          </a:xfrm>
          <a:prstGeom prst="line">
            <a:avLst/>
          </a:prstGeom>
          <a:ln w="22225">
            <a:solidFill>
              <a:srgbClr val="1A1A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846320" y="2194560"/>
            <a:ext cx="457200" cy="434340"/>
          </a:xfrm>
          <a:prstGeom prst="line">
            <a:avLst/>
          </a:prstGeom>
          <a:ln w="22225">
            <a:solidFill>
              <a:srgbClr val="1A1A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229600" y="1417320"/>
            <a:ext cx="3200400" cy="868680"/>
          </a:xfrm>
          <a:prstGeom prst="roundRect">
            <a:avLst>
              <a:gd name="adj" fmla="val 8000"/>
            </a:avLst>
          </a:prstGeom>
          <a:solidFill>
            <a:srgbClr val="EFF6F8"/>
          </a:solidFill>
          <a:ln w="15875">
            <a:solidFill>
              <a:srgbClr val="0F76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84464" y="1417320"/>
            <a:ext cx="3090672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A1A2E"/>
                </a:solidFill>
                <a:latin typeface="Microsoft JhengHei"/>
              </a:rPr>
              <a:t>蒙眼推理器 (Qwen2.5-14B)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5B6370"/>
                </a:solidFill>
                <a:latin typeface="Microsoft JhengHei"/>
              </a:rPr>
              <a:t>只收感知文字 · 不給圖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680960" y="1760220"/>
            <a:ext cx="548640" cy="91440"/>
          </a:xfrm>
          <a:prstGeom prst="line">
            <a:avLst/>
          </a:prstGeom>
          <a:ln w="22225">
            <a:solidFill>
              <a:srgbClr val="E86A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132320" y="1495044"/>
            <a:ext cx="16459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1">
                <a:solidFill>
                  <a:srgbClr val="E86A33"/>
                </a:solidFill>
                <a:latin typeface="Microsoft JhengHei"/>
              </a:rPr>
              <a:t>感知文字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2514600"/>
            <a:ext cx="320040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F76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84464" y="2514600"/>
            <a:ext cx="3090672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A1A2E"/>
                </a:solidFill>
                <a:latin typeface="Microsoft JhengHei"/>
              </a:rPr>
              <a:t>感知充分？ →  Rₚ ∈ {0,1}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829800" y="2286000"/>
            <a:ext cx="0" cy="228600"/>
          </a:xfrm>
          <a:prstGeom prst="line">
            <a:avLst/>
          </a:prstGeom>
          <a:ln w="22225">
            <a:solidFill>
              <a:srgbClr val="0F76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2834640" y="3566160"/>
            <a:ext cx="2926080" cy="685800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 w="15875">
            <a:solidFill>
              <a:srgbClr val="1A1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89504" y="3566160"/>
            <a:ext cx="2816352" cy="6858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Microsoft JhengHei"/>
              </a:rPr>
              <a:t>R(τ) = Rₒ + λ·Rₚ   (λ=0.3)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4297680" y="2971800"/>
            <a:ext cx="2194560" cy="594360"/>
          </a:xfrm>
          <a:prstGeom prst="line">
            <a:avLst/>
          </a:prstGeom>
          <a:ln w="22225">
            <a:solidFill>
              <a:srgbClr val="5B63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572000" y="2958084"/>
            <a:ext cx="16459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1">
                <a:solidFill>
                  <a:srgbClr val="5B6370"/>
                </a:solidFill>
                <a:latin typeface="Microsoft JhengHei"/>
              </a:rPr>
              <a:t>Rₒ 結果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5760720" y="3154680"/>
            <a:ext cx="2468880" cy="754380"/>
          </a:xfrm>
          <a:prstGeom prst="line">
            <a:avLst/>
          </a:prstGeom>
          <a:ln w="22225">
            <a:solidFill>
              <a:srgbClr val="0F768E"/>
            </a:solidFill>
            <a:tailEnd type="triangle" w="med" len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172200" y="3220974"/>
            <a:ext cx="16459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1">
                <a:solidFill>
                  <a:srgbClr val="0F768E"/>
                </a:solidFill>
                <a:latin typeface="Microsoft JhengHei"/>
              </a:rPr>
              <a:t>Rₚ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572000"/>
            <a:ext cx="3566160" cy="777240"/>
          </a:xfrm>
          <a:prstGeom prst="roundRect">
            <a:avLst>
              <a:gd name="adj" fmla="val 8000"/>
            </a:avLst>
          </a:prstGeom>
          <a:solidFill>
            <a:srgbClr val="F2F5F7"/>
          </a:solidFill>
          <a:ln w="15875">
            <a:solidFill>
              <a:srgbClr val="5B63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944" y="4572000"/>
            <a:ext cx="3456432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A1A2E"/>
                </a:solidFill>
                <a:latin typeface="Microsoft JhengHei"/>
              </a:rPr>
              <a:t>結果對 (Rₒ=1)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B6370"/>
                </a:solidFill>
                <a:latin typeface="Microsoft JhengHei"/>
              </a:rPr>
              <a:t>標準 GRPO：全 token 一視同仁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43400" y="4572000"/>
            <a:ext cx="3566160" cy="777240"/>
          </a:xfrm>
          <a:prstGeom prst="roundRect">
            <a:avLst>
              <a:gd name="adj" fmla="val 8000"/>
            </a:avLst>
          </a:prstGeom>
          <a:solidFill>
            <a:srgbClr val="EFF6F8"/>
          </a:solidFill>
          <a:ln w="15875">
            <a:solidFill>
              <a:srgbClr val="0F76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98264" y="4572000"/>
            <a:ext cx="3456432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A1A2E"/>
                </a:solidFill>
                <a:latin typeface="Microsoft JhengHei"/>
              </a:rPr>
              <a:t>壞在想 (Rₒ=0, Rₚ=1)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B6370"/>
                </a:solidFill>
                <a:latin typeface="Microsoft JhengHei"/>
              </a:rPr>
              <a:t>保護感知 token：A + 0.2·|A|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46720" y="4572000"/>
            <a:ext cx="3383280" cy="777240"/>
          </a:xfrm>
          <a:prstGeom prst="roundRect">
            <a:avLst>
              <a:gd name="adj" fmla="val 8000"/>
            </a:avLst>
          </a:prstGeom>
          <a:solidFill>
            <a:srgbClr val="FDECE2"/>
          </a:solidFill>
          <a:ln w="15875">
            <a:solidFill>
              <a:srgbClr val="E86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01584" y="4572000"/>
            <a:ext cx="3273552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A1A2E"/>
                </a:solidFill>
                <a:latin typeface="Microsoft JhengHei"/>
              </a:rPr>
              <a:t>壞在看 (Rₒ=0, Rₚ=0)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B6370"/>
                </a:solidFill>
                <a:latin typeface="Microsoft JhengHei"/>
              </a:rPr>
              <a:t>加重罰感知 token：A − 0.2·|A|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43400" y="5532120"/>
            <a:ext cx="3566160" cy="594360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 w="15875">
            <a:solidFill>
              <a:srgbClr val="1A1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98264" y="5532120"/>
            <a:ext cx="3456432" cy="5943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Microsoft JhengHei"/>
              </a:rPr>
              <a:t>GRPO 更新（group k=8）</a:t>
            </a:r>
          </a:p>
        </p:txBody>
      </p:sp>
      <p:cxnSp>
        <p:nvCxnSpPr>
          <p:cNvPr id="38" name="Connector 37"/>
          <p:cNvCxnSpPr/>
          <p:nvPr/>
        </p:nvCxnSpPr>
        <p:spPr>
          <a:xfrm flipH="1">
            <a:off x="2926080" y="4251960"/>
            <a:ext cx="1371600" cy="320040"/>
          </a:xfrm>
          <a:prstGeom prst="line">
            <a:avLst/>
          </a:prstGeom>
          <a:ln w="22225">
            <a:solidFill>
              <a:srgbClr val="1A1A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640080" y="6355080"/>
            <a:ext cx="10972800" cy="18288"/>
          </a:xfrm>
          <a:prstGeom prst="rect">
            <a:avLst/>
          </a:prstGeom>
          <a:solidFill>
            <a:srgbClr val="DD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6419088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B6370"/>
                </a:solidFill>
                <a:latin typeface="Microsoft JhengHei"/>
              </a:rPr>
              <a:t>架構依據(重繪自論文描述): </a:t>
            </a:r>
            <a:r>
              <a:rPr sz="1000" b="0" i="1">
                <a:solidFill>
                  <a:srgbClr val="5B6370"/>
                </a:solidFill>
                <a:latin typeface="Segoe UI"/>
              </a:rPr>
              <a:t>MoCA — Bad Seeing or Bad Thinking? Rewarding Perception for VL Reasoning. arXiv 2605.14054.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128016" cy="365760"/>
          </a:xfrm>
          <a:prstGeom prst="rect">
            <a:avLst/>
          </a:prstGeom>
          <a:solidFill>
            <a:srgbClr val="E86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84632"/>
            <a:ext cx="1005840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86A33"/>
                </a:solidFill>
                <a:latin typeface="Microsoft JhengHei"/>
              </a:rPr>
              <a:t>架構 ② · 我們要升級的對象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A1A2E"/>
                </a:solidFill>
                <a:latin typeface="Microsoft JhengHei"/>
              </a:rPr>
              <a:t>Flow4Agent：光流僅作壓縮 prior（training-free，非 reward）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1737360" cy="1005840"/>
          </a:xfrm>
          <a:prstGeom prst="roundRect">
            <a:avLst>
              <a:gd name="adj" fmla="val 8000"/>
            </a:avLst>
          </a:prstGeom>
          <a:solidFill>
            <a:srgbClr val="F2F5F7"/>
          </a:solidFill>
          <a:ln w="15875">
            <a:solidFill>
              <a:srgbClr val="5B63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2194560"/>
            <a:ext cx="1627632" cy="10058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A1A2E"/>
                </a:solidFill>
                <a:latin typeface="Microsoft JhengHei"/>
              </a:rPr>
              <a:t>長影片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5B6370"/>
                </a:solidFill>
                <a:latin typeface="Microsoft JhengHei"/>
              </a:rPr>
              <a:t>hour-level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51760" y="2194560"/>
            <a:ext cx="2011680" cy="1005840"/>
          </a:xfrm>
          <a:prstGeom prst="roundRect">
            <a:avLst>
              <a:gd name="adj" fmla="val 8000"/>
            </a:avLst>
          </a:prstGeom>
          <a:solidFill>
            <a:srgbClr val="EFF6F8"/>
          </a:solidFill>
          <a:ln w="15875">
            <a:solidFill>
              <a:srgbClr val="0F76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06624" y="2194560"/>
            <a:ext cx="1901952" cy="10058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A1A2E"/>
                </a:solidFill>
                <a:latin typeface="Microsoft JhengHei"/>
              </a:rPr>
              <a:t>光流抽取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5B6370"/>
                </a:solidFill>
                <a:latin typeface="Microsoft JhengHei"/>
              </a:rPr>
              <a:t>motion prior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7760" y="2194560"/>
            <a:ext cx="2286000" cy="1005840"/>
          </a:xfrm>
          <a:prstGeom prst="roundRect">
            <a:avLst>
              <a:gd name="adj" fmla="val 8000"/>
            </a:avLst>
          </a:prstGeom>
          <a:solidFill>
            <a:srgbClr val="EFF6F8"/>
          </a:solidFill>
          <a:ln w="15875">
            <a:solidFill>
              <a:srgbClr val="0F76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92624" y="2194560"/>
            <a:ext cx="2176272" cy="10058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A1A2E"/>
                </a:solidFill>
                <a:latin typeface="Microsoft JhengHei"/>
              </a:rPr>
              <a:t>TGO 時間粒度優化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5B6370"/>
                </a:solidFill>
                <a:latin typeface="Microsoft JhengHei"/>
              </a:rPr>
              <a:t>粗光流分組相似幀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5B6370"/>
                </a:solidFill>
                <a:latin typeface="Microsoft JhengHei"/>
              </a:rPr>
              <a:t>+ 語意 prior 濾場景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2194560"/>
            <a:ext cx="2286000" cy="1005840"/>
          </a:xfrm>
          <a:prstGeom prst="roundRect">
            <a:avLst>
              <a:gd name="adj" fmla="val 8000"/>
            </a:avLst>
          </a:prstGeom>
          <a:solidFill>
            <a:srgbClr val="EFF6F8"/>
          </a:solidFill>
          <a:ln w="15875">
            <a:solidFill>
              <a:srgbClr val="0F76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52943" y="2194560"/>
            <a:ext cx="2176272" cy="10058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A1A2E"/>
                </a:solidFill>
                <a:latin typeface="Microsoft JhengHei"/>
              </a:rPr>
              <a:t>MTP 運動 token 剪枝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5B6370"/>
                </a:solidFill>
                <a:latin typeface="Microsoft JhengHei"/>
              </a:rPr>
              <a:t>細光流剪冗餘 token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0" y="2194560"/>
            <a:ext cx="1463040" cy="1005840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 w="15875">
            <a:solidFill>
              <a:srgbClr val="1A1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13264" y="2194560"/>
            <a:ext cx="1353312" cy="10058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Microsoft JhengHei"/>
              </a:rPr>
              <a:t>LLM → 答案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377440" y="2697480"/>
            <a:ext cx="274320" cy="0"/>
          </a:xfrm>
          <a:prstGeom prst="line">
            <a:avLst/>
          </a:prstGeom>
          <a:ln w="22225">
            <a:solidFill>
              <a:srgbClr val="1A1A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663440" y="2697480"/>
            <a:ext cx="274320" cy="0"/>
          </a:xfrm>
          <a:prstGeom prst="line">
            <a:avLst/>
          </a:prstGeom>
          <a:ln w="22225">
            <a:solidFill>
              <a:srgbClr val="1A1A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223760" y="2697480"/>
            <a:ext cx="274319" cy="0"/>
          </a:xfrm>
          <a:prstGeom prst="line">
            <a:avLst/>
          </a:prstGeom>
          <a:ln w="22225">
            <a:solidFill>
              <a:srgbClr val="1A1A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784079" y="2697480"/>
            <a:ext cx="274321" cy="0"/>
          </a:xfrm>
          <a:prstGeom prst="line">
            <a:avLst/>
          </a:prstGeom>
          <a:ln w="22225">
            <a:solidFill>
              <a:srgbClr val="1A1A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651760" y="3749039"/>
            <a:ext cx="7132320" cy="731520"/>
          </a:xfrm>
          <a:prstGeom prst="roundRect">
            <a:avLst/>
          </a:prstGeom>
          <a:solidFill>
            <a:srgbClr val="FDECE2"/>
          </a:solidFill>
          <a:ln w="12700">
            <a:solidFill>
              <a:srgbClr val="E86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0" y="3794760"/>
            <a:ext cx="694944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A1A2E"/>
                </a:solidFill>
                <a:latin typeface="Microsoft JhengHei"/>
              </a:rPr>
              <a:t>光流只用來『選哪些幀、留哪些 token』——是壓縮/聚焦的 prior，</a:t>
            </a:r>
            <a:r>
              <a:rPr sz="1200" b="1" i="0">
                <a:solidFill>
                  <a:srgbClr val="E86A33"/>
                </a:solidFill>
                <a:latin typeface="Microsoft JhengHei"/>
              </a:rPr>
              <a:t>不是訓練訊號。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35040" y="3200400"/>
            <a:ext cx="0" cy="548639"/>
          </a:xfrm>
          <a:prstGeom prst="line">
            <a:avLst/>
          </a:prstGeom>
          <a:ln w="22225">
            <a:solidFill>
              <a:srgbClr val="E86A33"/>
            </a:solidFill>
            <a:tailEnd type="triangle" w="med" len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291840" y="4892040"/>
            <a:ext cx="5852160" cy="822960"/>
          </a:xfrm>
          <a:prstGeom prst="roundRect">
            <a:avLst>
              <a:gd name="adj" fmla="val 8000"/>
            </a:avLst>
          </a:prstGeom>
          <a:solidFill>
            <a:srgbClr val="EFF6F8"/>
          </a:solidFill>
          <a:ln w="15875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46704" y="4892040"/>
            <a:ext cx="5742432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E7D5B"/>
                </a:solidFill>
                <a:latin typeface="Microsoft JhengHei"/>
              </a:rPr>
              <a:t>我們的升級：把同一運動 prior 變成 GRPO reward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B6370"/>
                </a:solidFill>
                <a:latin typeface="Microsoft JhengHei"/>
              </a:rPr>
              <a:t>獎勵『推理 ↔ 光流證據』一致，而非只做 token 剪枝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035040" y="4480560"/>
            <a:ext cx="182880" cy="411480"/>
          </a:xfrm>
          <a:prstGeom prst="line">
            <a:avLst/>
          </a:prstGeom>
          <a:ln w="22225">
            <a:solidFill>
              <a:srgbClr val="2E7D5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640080" y="6355080"/>
            <a:ext cx="10972800" cy="18288"/>
          </a:xfrm>
          <a:prstGeom prst="rect">
            <a:avLst/>
          </a:prstGeom>
          <a:solidFill>
            <a:srgbClr val="DD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6419088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B6370"/>
                </a:solidFill>
                <a:latin typeface="Microsoft JhengHei"/>
              </a:rPr>
              <a:t>架構依據(重繪自論文描述): </a:t>
            </a:r>
            <a:r>
              <a:rPr sz="1000" b="0" i="1">
                <a:solidFill>
                  <a:srgbClr val="5B6370"/>
                </a:solidFill>
                <a:latin typeface="Segoe UI"/>
              </a:rPr>
              <a:t>Flow4Agent — Long-form Video Understanding via Motion Prior from Optical Flow. arXiv 2510.05836 (ICCV 2025).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128016" cy="365760"/>
          </a:xfrm>
          <a:prstGeom prst="rect">
            <a:avLst/>
          </a:prstGeom>
          <a:solidFill>
            <a:srgbClr val="0F76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84632"/>
            <a:ext cx="1005840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F768E"/>
                </a:solidFill>
                <a:latin typeface="Microsoft JhengHei"/>
              </a:rPr>
              <a:t>架構 ③ · 我們借用的連續 reward 機制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A1A2E"/>
                </a:solidFill>
                <a:latin typeface="Microsoft JhengHei"/>
              </a:rPr>
              <a:t>Smooth Operator / AP-GRPO：把 near-miss 誤差變連續稠密 reward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2194560" cy="1051560"/>
          </a:xfrm>
          <a:prstGeom prst="roundRect">
            <a:avLst>
              <a:gd name="adj" fmla="val 8000"/>
            </a:avLst>
          </a:prstGeom>
          <a:solidFill>
            <a:srgbClr val="EFF6F8"/>
          </a:solidFill>
          <a:ln w="15875">
            <a:solidFill>
              <a:srgbClr val="0F76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2377440"/>
            <a:ext cx="2084832" cy="10515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A1A2E"/>
                </a:solidFill>
                <a:latin typeface="Microsoft JhengHei"/>
              </a:rPr>
              <a:t>VLM 數值 3D 預測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B6370"/>
                </a:solidFill>
                <a:latin typeface="Microsoft JhengHei"/>
              </a:rPr>
              <a:t>答案是數字(深度/距離)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08960" y="2377440"/>
            <a:ext cx="2286000" cy="1051560"/>
          </a:xfrm>
          <a:prstGeom prst="roundRect">
            <a:avLst>
              <a:gd name="adj" fmla="val 8000"/>
            </a:avLst>
          </a:prstGeom>
          <a:solidFill>
            <a:srgbClr val="F2F5F7"/>
          </a:solidFill>
          <a:ln w="15875">
            <a:solidFill>
              <a:srgbClr val="5B63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63824" y="2377440"/>
            <a:ext cx="2176272" cy="10515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A1A2E"/>
                </a:solidFill>
                <a:latin typeface="Microsoft JhengHei"/>
              </a:rPr>
              <a:t>原始誤差 vs 3D 約束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B6370"/>
                </a:solidFill>
                <a:latin typeface="Microsoft JhengHei"/>
              </a:rPr>
              <a:t>near-miss 小誤差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0" y="2377440"/>
            <a:ext cx="2651760" cy="1051560"/>
          </a:xfrm>
          <a:prstGeom prst="roundRect">
            <a:avLst>
              <a:gd name="adj" fmla="val 8000"/>
            </a:avLst>
          </a:prstGeom>
          <a:solidFill>
            <a:srgbClr val="EFF6F8"/>
          </a:solidFill>
          <a:ln w="15875">
            <a:solidFill>
              <a:srgbClr val="0F76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24144" y="2377440"/>
            <a:ext cx="2542032" cy="10515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A1A2E"/>
                </a:solidFill>
                <a:latin typeface="Microsoft JhengHei"/>
              </a:rPr>
              <a:t>SNRA：動態 Sigmoid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B6370"/>
                </a:solidFill>
                <a:latin typeface="Microsoft JhengHei"/>
              </a:rPr>
              <a:t>稀疏 → 稠密連續 reward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95360" y="2377440"/>
            <a:ext cx="2834640" cy="1051560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 w="15875">
            <a:solidFill>
              <a:srgbClr val="1A1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50224" y="2377440"/>
            <a:ext cx="2724912" cy="10515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Microsoft JhengHei"/>
              </a:rPr>
              <a:t>AP-GRPO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B6370"/>
                </a:solidFill>
                <a:latin typeface="Microsoft JhengHei"/>
              </a:rPr>
              <a:t>保留絕對數值梯度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B6370"/>
                </a:solidFill>
                <a:latin typeface="Microsoft JhengHei"/>
              </a:rPr>
              <a:t>(非只相對排名)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834640" y="2903220"/>
            <a:ext cx="274320" cy="0"/>
          </a:xfrm>
          <a:prstGeom prst="line">
            <a:avLst/>
          </a:prstGeom>
          <a:ln w="22225">
            <a:solidFill>
              <a:srgbClr val="1A1A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394960" y="2903220"/>
            <a:ext cx="274320" cy="0"/>
          </a:xfrm>
          <a:prstGeom prst="line">
            <a:avLst/>
          </a:prstGeom>
          <a:ln w="22225">
            <a:solidFill>
              <a:srgbClr val="1A1A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321040" y="2903220"/>
            <a:ext cx="274320" cy="0"/>
          </a:xfrm>
          <a:prstGeom prst="line">
            <a:avLst/>
          </a:prstGeom>
          <a:ln w="22225">
            <a:solidFill>
              <a:srgbClr val="1A1A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40080" y="4206240"/>
            <a:ext cx="10789920" cy="822960"/>
          </a:xfrm>
          <a:prstGeom prst="roundRect">
            <a:avLst>
              <a:gd name="adj" fmla="val 8000"/>
            </a:avLst>
          </a:prstGeom>
          <a:solidFill>
            <a:srgbClr val="F2F5F7"/>
          </a:solidFill>
          <a:ln w="15875">
            <a:solidFill>
              <a:srgbClr val="E86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" y="4206240"/>
            <a:ext cx="10680192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A1A2E"/>
                </a:solidFill>
                <a:latin typeface="Microsoft JhengHei"/>
              </a:rPr>
              <a:t>為何重要：RLVR 多為 outcome-only 二元 reward → 訊號稀疏；連續化讓『幾乎答對』也拿到梯度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B6370"/>
                </a:solidFill>
                <a:latin typeface="Microsoft JhengHei"/>
              </a:rPr>
              <a:t>解決我們『連續 depth/flow 一致性 reward』的稀疏與梯度不穩問題（Numerical3D-50k 驗證）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91840" y="5257800"/>
            <a:ext cx="5852160" cy="731520"/>
          </a:xfrm>
          <a:prstGeom prst="roundRect">
            <a:avLst>
              <a:gd name="adj" fmla="val 8000"/>
            </a:avLst>
          </a:prstGeom>
          <a:solidFill>
            <a:srgbClr val="EFF6F8"/>
          </a:solidFill>
          <a:ln w="15875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46704" y="5257800"/>
            <a:ext cx="5742432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E7D5B"/>
                </a:solidFill>
                <a:latin typeface="Microsoft JhengHei"/>
              </a:rPr>
              <a:t>我們的用法：把數值訊號從『深度』換成『光流／scene-flow 一致性』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6355080"/>
            <a:ext cx="10972800" cy="18288"/>
          </a:xfrm>
          <a:prstGeom prst="rect">
            <a:avLst/>
          </a:prstGeom>
          <a:solidFill>
            <a:srgbClr val="DD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6419088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B6370"/>
                </a:solidFill>
                <a:latin typeface="Microsoft JhengHei"/>
              </a:rPr>
              <a:t>架構依據(重繪自論文描述): </a:t>
            </a:r>
            <a:r>
              <a:rPr sz="1000" b="0" i="1">
                <a:solidFill>
                  <a:srgbClr val="5B6370"/>
                </a:solidFill>
                <a:latin typeface="Segoe UI"/>
              </a:rPr>
              <a:t>Smooth Operator — Smooth Verifiable Reward Activates Spatial Reasoning. arXiv 2601.07695.  ·  RLVR 稀疏性: arXiv 2508.08189.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128016" cy="36576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84632"/>
            <a:ext cx="1005840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E7D5B"/>
                </a:solidFill>
                <a:latin typeface="Microsoft JhengHei"/>
              </a:rPr>
              <a:t>架構 ④ · 我們的方法（綜合）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1A1A2E"/>
                </a:solidFill>
                <a:latin typeface="Microsoft JhengHei"/>
              </a:rPr>
              <a:t>4D 證據一致性 Reward：把 ①②③ 綜合成一條訓練迴路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645920" cy="868680"/>
          </a:xfrm>
          <a:prstGeom prst="roundRect">
            <a:avLst>
              <a:gd name="adj" fmla="val 8000"/>
            </a:avLst>
          </a:prstGeom>
          <a:solidFill>
            <a:srgbClr val="F2F5F7"/>
          </a:solidFill>
          <a:ln w="15875">
            <a:solidFill>
              <a:srgbClr val="5B63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1828800"/>
            <a:ext cx="1536192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A1A2E"/>
                </a:solidFill>
                <a:latin typeface="Microsoft JhengHei"/>
              </a:rPr>
              <a:t>影片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5B6370"/>
                </a:solidFill>
                <a:latin typeface="Microsoft JhengHei"/>
              </a:rPr>
              <a:t>真實/動態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1828800"/>
            <a:ext cx="2377440" cy="868680"/>
          </a:xfrm>
          <a:prstGeom prst="roundRect">
            <a:avLst>
              <a:gd name="adj" fmla="val 8000"/>
            </a:avLst>
          </a:prstGeom>
          <a:solidFill>
            <a:srgbClr val="EFF6F8"/>
          </a:solidFill>
          <a:ln w="15875">
            <a:solidFill>
              <a:srgbClr val="0F76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15184" y="1828800"/>
            <a:ext cx="2267712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A1A2E"/>
                </a:solidFill>
                <a:latin typeface="Microsoft JhengHei"/>
              </a:rPr>
              <a:t>VLM 策略 π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B6370"/>
                </a:solidFill>
                <a:latin typeface="Microsoft JhengHei"/>
              </a:rPr>
              <a:t>感知(4D 描述)+推理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86000" y="2263140"/>
            <a:ext cx="274320" cy="0"/>
          </a:xfrm>
          <a:prstGeom prst="line">
            <a:avLst/>
          </a:prstGeom>
          <a:ln w="22225">
            <a:solidFill>
              <a:srgbClr val="1A1A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560320" y="306324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FDECE2"/>
          </a:solidFill>
          <a:ln w="15875">
            <a:solidFill>
              <a:srgbClr val="E86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15184" y="3063240"/>
            <a:ext cx="2267712" cy="9144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A1A2E"/>
                </a:solidFill>
                <a:latin typeface="Microsoft JhengHei"/>
              </a:rPr>
              <a:t>偽標 4D 證據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5B6370"/>
                </a:solidFill>
                <a:latin typeface="Microsoft JhengHei"/>
              </a:rPr>
              <a:t>Depth Anything V2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5B6370"/>
                </a:solidFill>
                <a:latin typeface="Microsoft JhengHei"/>
              </a:rPr>
              <a:t>+ RAFT/FlowSeek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463040" y="2697480"/>
            <a:ext cx="2286000" cy="365760"/>
          </a:xfrm>
          <a:prstGeom prst="line">
            <a:avLst/>
          </a:prstGeom>
          <a:ln w="22225">
            <a:solidFill>
              <a:srgbClr val="E86A33"/>
            </a:solidFill>
            <a:tailEnd type="triangle" w="med" len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783080" y="2569464"/>
            <a:ext cx="16459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1">
                <a:solidFill>
                  <a:srgbClr val="E86A33"/>
                </a:solidFill>
                <a:latin typeface="Microsoft JhengHei"/>
              </a:rPr>
              <a:t>免 GT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94960" y="2331720"/>
            <a:ext cx="3108960" cy="1234440"/>
          </a:xfrm>
          <a:prstGeom prst="roundRect">
            <a:avLst>
              <a:gd name="adj" fmla="val 8000"/>
            </a:avLst>
          </a:prstGeom>
          <a:solidFill>
            <a:srgbClr val="EFF6F8"/>
          </a:solidFill>
          <a:ln w="15875">
            <a:solidFill>
              <a:srgbClr val="0F76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49824" y="2331720"/>
            <a:ext cx="2999232" cy="12344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A1A2E"/>
                </a:solidFill>
                <a:latin typeface="Microsoft JhengHei"/>
              </a:rPr>
              <a:t>4D 證據一致性檢核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B6370"/>
                </a:solidFill>
                <a:latin typeface="Microsoft JhengHei"/>
              </a:rPr>
              <a:t>模型時空主張 ↔ 光流/scene-flow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B6370"/>
                </a:solidFill>
                <a:latin typeface="Microsoft JhengHei"/>
              </a:rPr>
              <a:t>→ 連續 Rₚ (SNRA 稠密化)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37760" y="2263140"/>
            <a:ext cx="457200" cy="342900"/>
          </a:xfrm>
          <a:prstGeom prst="line">
            <a:avLst/>
          </a:prstGeom>
          <a:ln w="22225">
            <a:solidFill>
              <a:srgbClr val="0F76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4937760" y="3200400"/>
            <a:ext cx="457200" cy="320040"/>
          </a:xfrm>
          <a:prstGeom prst="line">
            <a:avLst/>
          </a:prstGeom>
          <a:ln w="22225">
            <a:solidFill>
              <a:srgbClr val="E86A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394960" y="3794760"/>
            <a:ext cx="3108960" cy="640080"/>
          </a:xfrm>
          <a:prstGeom prst="roundRect">
            <a:avLst>
              <a:gd name="adj" fmla="val 8000"/>
            </a:avLst>
          </a:prstGeom>
          <a:solidFill>
            <a:srgbClr val="F2F5F7"/>
          </a:solidFill>
          <a:ln w="15875">
            <a:solidFill>
              <a:srgbClr val="5B63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49824" y="3794760"/>
            <a:ext cx="2999232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A1A2E"/>
                </a:solidFill>
                <a:latin typeface="Microsoft JhengHei"/>
              </a:rPr>
              <a:t>結果 reward Rₒ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937760" y="2697480"/>
            <a:ext cx="457200" cy="1417320"/>
          </a:xfrm>
          <a:prstGeom prst="line">
            <a:avLst/>
          </a:prstGeom>
          <a:ln w="22225">
            <a:solidFill>
              <a:srgbClr val="5B63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961120" y="2651760"/>
            <a:ext cx="2651760" cy="1280160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 w="15875">
            <a:solidFill>
              <a:srgbClr val="1A1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15984" y="2651760"/>
            <a:ext cx="2542032" cy="12801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Microsoft JhengHei"/>
              </a:rPr>
              <a:t>MoCA 式模態信用分配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B6370"/>
                </a:solidFill>
                <a:latin typeface="Microsoft JhengHei"/>
              </a:rPr>
              <a:t>壞在看 / 壞在想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B6370"/>
                </a:solidFill>
                <a:latin typeface="Microsoft JhengHei"/>
              </a:rPr>
              <a:t>分別對感知 token 調整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03920" y="2948940"/>
            <a:ext cx="457200" cy="68580"/>
          </a:xfrm>
          <a:prstGeom prst="line">
            <a:avLst/>
          </a:prstGeom>
          <a:ln w="22225">
            <a:solidFill>
              <a:srgbClr val="0F76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8503920" y="3657600"/>
            <a:ext cx="457200" cy="457200"/>
          </a:xfrm>
          <a:prstGeom prst="line">
            <a:avLst/>
          </a:prstGeom>
          <a:ln w="22225">
            <a:solidFill>
              <a:srgbClr val="5B63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961120" y="4343400"/>
            <a:ext cx="2651760" cy="640080"/>
          </a:xfrm>
          <a:prstGeom prst="roundRect">
            <a:avLst>
              <a:gd name="adj" fmla="val 8000"/>
            </a:avLst>
          </a:prstGeom>
          <a:solidFill>
            <a:srgbClr val="2E7D5B"/>
          </a:solidFill>
          <a:ln w="15875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15984" y="4343400"/>
            <a:ext cx="2542032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Microsoft JhengHei"/>
              </a:rPr>
              <a:t>GRPO 策略更新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0287000" y="3931920"/>
            <a:ext cx="0" cy="411480"/>
          </a:xfrm>
          <a:prstGeom prst="line">
            <a:avLst/>
          </a:prstGeom>
          <a:ln w="22225">
            <a:solidFill>
              <a:srgbClr val="2E7D5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3749039" y="2697500"/>
            <a:ext cx="5212081" cy="1965940"/>
          </a:xfrm>
          <a:prstGeom prst="line">
            <a:avLst/>
          </a:prstGeom>
          <a:ln w="22225">
            <a:solidFill>
              <a:srgbClr val="2E7D5B"/>
            </a:solidFill>
            <a:tailEnd type="triangle" w="med" len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532119" y="3369574"/>
            <a:ext cx="16459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1">
                <a:solidFill>
                  <a:srgbClr val="2E7D5B"/>
                </a:solidFill>
                <a:latin typeface="Microsoft JhengHei"/>
              </a:rPr>
              <a:t>更新 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257800"/>
            <a:ext cx="10972800" cy="9601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1A1A2E"/>
                </a:solidFill>
                <a:latin typeface="Microsoft JhengHei"/>
              </a:rPr>
              <a:t>組件來源：</a:t>
            </a:r>
            <a:r>
              <a:rPr sz="1200" b="0" i="0">
                <a:solidFill>
                  <a:srgbClr val="5B6370"/>
                </a:solidFill>
                <a:latin typeface="Microsoft JhengHei"/>
              </a:rPr>
              <a:t>一致性檢核=①MoCA 歸因 ｜ 連續 Rₚ=③Smooth/AP-GRPO ｜ 4D 訊號=②Flow4Agent 升級 + C 偽標工具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2E7D5B"/>
                </a:solidFill>
                <a:latin typeface="Microsoft JhengHei"/>
              </a:rPr>
              <a:t>新穎點：</a:t>
            </a:r>
            <a:r>
              <a:rPr sz="1200" b="0" i="0">
                <a:solidFill>
                  <a:srgbClr val="1A1A2E"/>
                </a:solidFill>
                <a:latin typeface="Microsoft JhengHei"/>
              </a:rPr>
              <a:t>感知判準 = 4D 證據一致性(光流/scene-flow)，且免 GT、可規模化 → depth-as-reward 之外的空白區。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6355080"/>
            <a:ext cx="10972800" cy="18288"/>
          </a:xfrm>
          <a:prstGeom prst="rect">
            <a:avLst/>
          </a:prstGeom>
          <a:solidFill>
            <a:srgbClr val="DD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6419088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B6370"/>
                </a:solidFill>
                <a:latin typeface="Microsoft JhengHei"/>
              </a:rPr>
              <a:t>架構依據(重繪自論文描述): </a:t>
            </a:r>
            <a:r>
              <a:rPr sz="1000" b="0" i="1">
                <a:solidFill>
                  <a:srgbClr val="5B6370"/>
                </a:solidFill>
                <a:latin typeface="Segoe UI"/>
              </a:rPr>
              <a:t>綜合：MoCA (2605.14054) + Smooth Operator (2601.07695) + Flow4Agent (2510.05836) + Depth Anything V2 / FlowSeek (2509.05297).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